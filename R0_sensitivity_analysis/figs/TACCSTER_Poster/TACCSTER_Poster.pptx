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3"/>
  </p:notesMasterIdLst>
  <p:sldIdLst>
    <p:sldId id="274"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92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a:srgbClr val="565F41"/>
    <a:srgbClr val="B4674E"/>
    <a:srgbClr val="2E8289"/>
    <a:srgbClr val="EAAE37"/>
    <a:srgbClr val="B146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310"/>
    <p:restoredTop sz="94689"/>
  </p:normalViewPr>
  <p:slideViewPr>
    <p:cSldViewPr snapToGrid="0">
      <p:cViewPr>
        <p:scale>
          <a:sx n="25" d="100"/>
          <a:sy n="25" d="100"/>
        </p:scale>
        <p:origin x="2872" y="760"/>
      </p:cViewPr>
      <p:guideLst>
        <p:guide orient="horz" pos="10368"/>
        <p:guide pos="92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E95503-715F-184B-B4FB-0BBC5E539758}" type="datetimeFigureOut">
              <a:rPr lang="en-US" smtClean="0"/>
              <a:t>9/22/25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E5EB5-9431-BF47-BC23-B128C54989FB}" type="slidenum">
              <a:rPr lang="en-US" smtClean="0"/>
              <a:t>‹#›</a:t>
            </a:fld>
            <a:endParaRPr lang="en-US"/>
          </a:p>
        </p:txBody>
      </p:sp>
    </p:spTree>
    <p:extLst>
      <p:ext uri="{BB962C8B-B14F-4D97-AF65-F5344CB8AC3E}">
        <p14:creationId xmlns:p14="http://schemas.microsoft.com/office/powerpoint/2010/main" val="3936262012"/>
      </p:ext>
    </p:extLst>
  </p:cSld>
  <p:clrMap bg1="lt1" tx1="dk1" bg2="lt2" tx2="dk2" accent1="accent1" accent2="accent2" accent3="accent3" accent4="accent4" accent5="accent5" accent6="accent6" hlink="hlink" folHlink="folHlink"/>
  <p:notesStyle>
    <a:lvl1pPr marL="0" algn="l" defTabSz="3686389" rtl="0" eaLnBrk="1" latinLnBrk="0" hangingPunct="1">
      <a:defRPr sz="4838" kern="1200">
        <a:solidFill>
          <a:schemeClr val="tx1"/>
        </a:solidFill>
        <a:latin typeface="+mn-lt"/>
        <a:ea typeface="+mn-ea"/>
        <a:cs typeface="+mn-cs"/>
      </a:defRPr>
    </a:lvl1pPr>
    <a:lvl2pPr marL="1843197" algn="l" defTabSz="3686389" rtl="0" eaLnBrk="1" latinLnBrk="0" hangingPunct="1">
      <a:defRPr sz="4838" kern="1200">
        <a:solidFill>
          <a:schemeClr val="tx1"/>
        </a:solidFill>
        <a:latin typeface="+mn-lt"/>
        <a:ea typeface="+mn-ea"/>
        <a:cs typeface="+mn-cs"/>
      </a:defRPr>
    </a:lvl2pPr>
    <a:lvl3pPr marL="3686389" algn="l" defTabSz="3686389" rtl="0" eaLnBrk="1" latinLnBrk="0" hangingPunct="1">
      <a:defRPr sz="4838" kern="1200">
        <a:solidFill>
          <a:schemeClr val="tx1"/>
        </a:solidFill>
        <a:latin typeface="+mn-lt"/>
        <a:ea typeface="+mn-ea"/>
        <a:cs typeface="+mn-cs"/>
      </a:defRPr>
    </a:lvl3pPr>
    <a:lvl4pPr marL="5529582" algn="l" defTabSz="3686389" rtl="0" eaLnBrk="1" latinLnBrk="0" hangingPunct="1">
      <a:defRPr sz="4838" kern="1200">
        <a:solidFill>
          <a:schemeClr val="tx1"/>
        </a:solidFill>
        <a:latin typeface="+mn-lt"/>
        <a:ea typeface="+mn-ea"/>
        <a:cs typeface="+mn-cs"/>
      </a:defRPr>
    </a:lvl4pPr>
    <a:lvl5pPr marL="7372778" algn="l" defTabSz="3686389" rtl="0" eaLnBrk="1" latinLnBrk="0" hangingPunct="1">
      <a:defRPr sz="4838" kern="1200">
        <a:solidFill>
          <a:schemeClr val="tx1"/>
        </a:solidFill>
        <a:latin typeface="+mn-lt"/>
        <a:ea typeface="+mn-ea"/>
        <a:cs typeface="+mn-cs"/>
      </a:defRPr>
    </a:lvl5pPr>
    <a:lvl6pPr marL="9215975" algn="l" defTabSz="3686389" rtl="0" eaLnBrk="1" latinLnBrk="0" hangingPunct="1">
      <a:defRPr sz="4838" kern="1200">
        <a:solidFill>
          <a:schemeClr val="tx1"/>
        </a:solidFill>
        <a:latin typeface="+mn-lt"/>
        <a:ea typeface="+mn-ea"/>
        <a:cs typeface="+mn-cs"/>
      </a:defRPr>
    </a:lvl6pPr>
    <a:lvl7pPr marL="11059167" algn="l" defTabSz="3686389" rtl="0" eaLnBrk="1" latinLnBrk="0" hangingPunct="1">
      <a:defRPr sz="4838" kern="1200">
        <a:solidFill>
          <a:schemeClr val="tx1"/>
        </a:solidFill>
        <a:latin typeface="+mn-lt"/>
        <a:ea typeface="+mn-ea"/>
        <a:cs typeface="+mn-cs"/>
      </a:defRPr>
    </a:lvl7pPr>
    <a:lvl8pPr marL="12902360" algn="l" defTabSz="3686389" rtl="0" eaLnBrk="1" latinLnBrk="0" hangingPunct="1">
      <a:defRPr sz="4838" kern="1200">
        <a:solidFill>
          <a:schemeClr val="tx1"/>
        </a:solidFill>
        <a:latin typeface="+mn-lt"/>
        <a:ea typeface="+mn-ea"/>
        <a:cs typeface="+mn-cs"/>
      </a:defRPr>
    </a:lvl8pPr>
    <a:lvl9pPr marL="14745556" algn="l" defTabSz="3686389"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63" name="Google Shape;46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504EA8-5408-B347-B8CA-58A2EA9479A5}"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160273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04EA8-5408-B347-B8CA-58A2EA9479A5}"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3203385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504EA8-5408-B347-B8CA-58A2EA9479A5}"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4214566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504EA8-5408-B347-B8CA-58A2EA9479A5}"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3640451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504EA8-5408-B347-B8CA-58A2EA9479A5}" type="datetimeFigureOut">
              <a:rPr lang="en-US" smtClean="0"/>
              <a:t>9/22/25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2519098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504EA8-5408-B347-B8CA-58A2EA9479A5}" type="datetimeFigureOut">
              <a:rPr lang="en-US" smtClean="0"/>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289197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04EA8-5408-B347-B8CA-58A2EA9479A5}" type="datetimeFigureOut">
              <a:rPr lang="en-US" smtClean="0"/>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2519068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E6504EA8-5408-B347-B8CA-58A2EA9479A5}"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908823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E6504EA8-5408-B347-B8CA-58A2EA9479A5}"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383356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04EA8-5408-B347-B8CA-58A2EA9479A5}"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2744751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504EA8-5408-B347-B8CA-58A2EA9479A5}"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F5C283-1145-E342-BBE0-2AE3D1129AEF}" type="slidenum">
              <a:rPr lang="en-US" smtClean="0"/>
              <a:t>‹#›</a:t>
            </a:fld>
            <a:endParaRPr lang="en-US"/>
          </a:p>
        </p:txBody>
      </p:sp>
    </p:spTree>
    <p:extLst>
      <p:ext uri="{BB962C8B-B14F-4D97-AF65-F5344CB8AC3E}">
        <p14:creationId xmlns:p14="http://schemas.microsoft.com/office/powerpoint/2010/main" val="890313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774952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E6504EA8-5408-B347-B8CA-58A2EA9479A5}" type="datetimeFigureOut">
              <a:rPr lang="en-US" smtClean="0"/>
              <a:t>9/22/25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20F5C283-1145-E342-BBE0-2AE3D1129AEF}" type="slidenum">
              <a:rPr lang="en-US" smtClean="0"/>
              <a:t>‹#›</a:t>
            </a:fld>
            <a:endParaRPr lang="en-US"/>
          </a:p>
        </p:txBody>
      </p:sp>
    </p:spTree>
    <p:extLst>
      <p:ext uri="{BB962C8B-B14F-4D97-AF65-F5344CB8AC3E}">
        <p14:creationId xmlns:p14="http://schemas.microsoft.com/office/powerpoint/2010/main" val="91820704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464"/>
        <p:cNvGrpSpPr/>
        <p:nvPr/>
      </p:nvGrpSpPr>
      <p:grpSpPr>
        <a:xfrm>
          <a:off x="0" y="0"/>
          <a:ext cx="0" cy="0"/>
          <a:chOff x="0" y="0"/>
          <a:chExt cx="0" cy="0"/>
        </a:xfrm>
      </p:grpSpPr>
      <p:pic>
        <p:nvPicPr>
          <p:cNvPr id="553" name="Picture 552" descr="A logo of a company&#10;&#10;AI-generated content may be incorrect.">
            <a:extLst>
              <a:ext uri="{FF2B5EF4-FFF2-40B4-BE49-F238E27FC236}">
                <a16:creationId xmlns:a16="http://schemas.microsoft.com/office/drawing/2014/main" id="{CA0C2C49-3812-9B7C-5247-055B7C1DA1B4}"/>
              </a:ext>
            </a:extLst>
          </p:cNvPr>
          <p:cNvPicPr>
            <a:picLocks noChangeAspect="1"/>
          </p:cNvPicPr>
          <p:nvPr/>
        </p:nvPicPr>
        <p:blipFill>
          <a:blip r:embed="rId3"/>
          <a:stretch>
            <a:fillRect/>
          </a:stretch>
        </p:blipFill>
        <p:spPr>
          <a:xfrm>
            <a:off x="25905255" y="2311694"/>
            <a:ext cx="3566070" cy="2445305"/>
          </a:xfrm>
          <a:prstGeom prst="rect">
            <a:avLst/>
          </a:prstGeom>
        </p:spPr>
      </p:pic>
      <p:sp>
        <p:nvSpPr>
          <p:cNvPr id="465" name="Google Shape;465;p19"/>
          <p:cNvSpPr/>
          <p:nvPr/>
        </p:nvSpPr>
        <p:spPr>
          <a:xfrm>
            <a:off x="933650" y="5490071"/>
            <a:ext cx="12822758" cy="837015"/>
          </a:xfrm>
          <a:prstGeom prst="rect">
            <a:avLst/>
          </a:prstGeom>
          <a:solidFill>
            <a:srgbClr val="BF5700"/>
          </a:solidFill>
          <a:ln>
            <a:noFill/>
          </a:ln>
        </p:spPr>
        <p:txBody>
          <a:bodyPr spcFirstLastPara="1" wrap="square" lIns="58773" tIns="29380" rIns="58773" bIns="29380" anchor="ctr" anchorCtr="0">
            <a:noAutofit/>
          </a:bodyPr>
          <a:lstStyle/>
          <a:p>
            <a:pPr algn="ctr">
              <a:buClr>
                <a:srgbClr val="000000"/>
              </a:buClr>
              <a:buSzPts val="6000"/>
            </a:pPr>
            <a:r>
              <a:rPr lang="en-US" sz="3859" b="1" dirty="0">
                <a:solidFill>
                  <a:schemeClr val="lt1"/>
                </a:solidFill>
                <a:latin typeface="Arial"/>
                <a:ea typeface="Arial"/>
                <a:cs typeface="Arial"/>
                <a:sym typeface="Arial"/>
              </a:rPr>
              <a:t>Motivation</a:t>
            </a:r>
            <a:endParaRPr sz="3859" dirty="0">
              <a:solidFill>
                <a:schemeClr val="lt1"/>
              </a:solidFill>
              <a:latin typeface="Arial"/>
              <a:ea typeface="Arial"/>
              <a:cs typeface="Arial"/>
              <a:sym typeface="Arial"/>
            </a:endParaRPr>
          </a:p>
        </p:txBody>
      </p:sp>
      <p:sp>
        <p:nvSpPr>
          <p:cNvPr id="466" name="Google Shape;466;p19"/>
          <p:cNvSpPr txBox="1"/>
          <p:nvPr/>
        </p:nvSpPr>
        <p:spPr>
          <a:xfrm>
            <a:off x="933650" y="6688116"/>
            <a:ext cx="12740406" cy="3937319"/>
          </a:xfrm>
          <a:prstGeom prst="rect">
            <a:avLst/>
          </a:prstGeom>
          <a:noFill/>
          <a:ln>
            <a:noFill/>
          </a:ln>
        </p:spPr>
        <p:txBody>
          <a:bodyPr spcFirstLastPara="1" wrap="square" lIns="58773" tIns="29380" rIns="58773" bIns="29380" anchor="t" anchorCtr="0">
            <a:spAutoFit/>
          </a:bodyPr>
          <a:lstStyle/>
          <a:p>
            <a:pPr>
              <a:buClr>
                <a:srgbClr val="000000"/>
              </a:buClr>
              <a:buSzPts val="3200"/>
            </a:pPr>
            <a:r>
              <a:rPr lang="en-US" sz="2800" dirty="0">
                <a:latin typeface="Arial" panose="020B0604020202020204" pitchFamily="34" charset="0"/>
                <a:cs typeface="Arial" panose="020B0604020202020204" pitchFamily="34" charset="0"/>
              </a:rPr>
              <a:t>The Pandemic Exercise Simulator (PES) is an epidemic modeling platform used to evaluate a range of intervention strategies under pandemic and epidemic scenarios. The simulator allows for user-defined age and risk groups, interconnected spatial regions (cities or counties), and multiple interventions, such as school closures, public health announcements, vaccination, and antiviral distribution. However, </a:t>
            </a:r>
            <a:r>
              <a:rPr lang="en-US" sz="2800" b="1" dirty="0">
                <a:latin typeface="Arial" panose="020B0604020202020204" pitchFamily="34" charset="0"/>
                <a:cs typeface="Arial" panose="020B0604020202020204" pitchFamily="34" charset="0"/>
              </a:rPr>
              <a:t>we lack clear guidelines for users on the minimum number of simulations to reach a confidence level while considering run time constraints.</a:t>
            </a:r>
            <a:r>
              <a:rPr lang="en-US" sz="2800" dirty="0">
                <a:latin typeface="Arial" panose="020B0604020202020204" pitchFamily="34" charset="0"/>
                <a:cs typeface="Arial" panose="020B0604020202020204" pitchFamily="34" charset="0"/>
              </a:rPr>
              <a:t> We investigated how simulation requirements scale with model complexity and epidemic dynamics. </a:t>
            </a:r>
            <a:endParaRPr sz="2800" dirty="0">
              <a:solidFill>
                <a:schemeClr val="dk1"/>
              </a:solidFill>
              <a:latin typeface="Arial" panose="020B0604020202020204" pitchFamily="34" charset="0"/>
              <a:ea typeface="Arial"/>
              <a:cs typeface="Arial" panose="020B0604020202020204" pitchFamily="34" charset="0"/>
              <a:sym typeface="Arial"/>
            </a:endParaRPr>
          </a:p>
        </p:txBody>
      </p:sp>
      <p:sp>
        <p:nvSpPr>
          <p:cNvPr id="469" name="Google Shape;469;p19"/>
          <p:cNvSpPr/>
          <p:nvPr/>
        </p:nvSpPr>
        <p:spPr>
          <a:xfrm>
            <a:off x="914020" y="11005171"/>
            <a:ext cx="12822758" cy="902768"/>
          </a:xfrm>
          <a:prstGeom prst="rect">
            <a:avLst/>
          </a:prstGeom>
          <a:solidFill>
            <a:srgbClr val="BF5700"/>
          </a:solidFill>
          <a:ln>
            <a:noFill/>
          </a:ln>
        </p:spPr>
        <p:txBody>
          <a:bodyPr spcFirstLastPara="1" wrap="square" lIns="58773" tIns="29380" rIns="58773" bIns="29380" anchor="ctr" anchorCtr="0">
            <a:noAutofit/>
          </a:bodyPr>
          <a:lstStyle/>
          <a:p>
            <a:pPr algn="ctr">
              <a:buClr>
                <a:srgbClr val="000000"/>
              </a:buClr>
              <a:buSzPts val="6000"/>
            </a:pPr>
            <a:r>
              <a:rPr lang="en-US" sz="3859" b="1" dirty="0">
                <a:solidFill>
                  <a:schemeClr val="lt1"/>
                </a:solidFill>
                <a:latin typeface="Arial"/>
                <a:ea typeface="Arial"/>
                <a:cs typeface="Arial"/>
                <a:sym typeface="Arial"/>
              </a:rPr>
              <a:t>Methods</a:t>
            </a:r>
            <a:endParaRPr sz="900" dirty="0">
              <a:solidFill>
                <a:srgbClr val="000000"/>
              </a:solidFill>
              <a:latin typeface="Arial"/>
              <a:ea typeface="Arial"/>
              <a:cs typeface="Arial"/>
              <a:sym typeface="Arial"/>
            </a:endParaRPr>
          </a:p>
        </p:txBody>
      </p:sp>
      <p:sp>
        <p:nvSpPr>
          <p:cNvPr id="470" name="Google Shape;470;p19"/>
          <p:cNvSpPr/>
          <p:nvPr/>
        </p:nvSpPr>
        <p:spPr>
          <a:xfrm>
            <a:off x="14697421" y="5485519"/>
            <a:ext cx="17329271" cy="850390"/>
          </a:xfrm>
          <a:prstGeom prst="rect">
            <a:avLst/>
          </a:prstGeom>
          <a:solidFill>
            <a:srgbClr val="BF5700"/>
          </a:solidFill>
          <a:ln>
            <a:noFill/>
          </a:ln>
        </p:spPr>
        <p:txBody>
          <a:bodyPr spcFirstLastPara="1" wrap="square" lIns="58773" tIns="29380" rIns="58773" bIns="29380" anchor="ctr" anchorCtr="0">
            <a:noAutofit/>
          </a:bodyPr>
          <a:lstStyle/>
          <a:p>
            <a:pPr algn="ctr">
              <a:buClr>
                <a:srgbClr val="000000"/>
              </a:buClr>
              <a:buSzPts val="6000"/>
            </a:pPr>
            <a:r>
              <a:rPr lang="en-US" sz="3859" b="1" dirty="0">
                <a:solidFill>
                  <a:schemeClr val="lt1"/>
                </a:solidFill>
                <a:latin typeface="Arial"/>
                <a:ea typeface="Arial"/>
                <a:cs typeface="Arial"/>
                <a:sym typeface="Arial"/>
              </a:rPr>
              <a:t>Results</a:t>
            </a:r>
            <a:endParaRPr sz="3859" dirty="0">
              <a:solidFill>
                <a:schemeClr val="lt1"/>
              </a:solidFill>
              <a:latin typeface="Arial"/>
              <a:ea typeface="Arial"/>
              <a:cs typeface="Arial"/>
              <a:sym typeface="Arial"/>
            </a:endParaRPr>
          </a:p>
        </p:txBody>
      </p:sp>
      <p:sp>
        <p:nvSpPr>
          <p:cNvPr id="471" name="Google Shape;471;p19"/>
          <p:cNvSpPr/>
          <p:nvPr/>
        </p:nvSpPr>
        <p:spPr>
          <a:xfrm>
            <a:off x="33003090" y="5485519"/>
            <a:ext cx="10039150" cy="850390"/>
          </a:xfrm>
          <a:prstGeom prst="rect">
            <a:avLst/>
          </a:prstGeom>
          <a:solidFill>
            <a:srgbClr val="BF5700"/>
          </a:solidFill>
          <a:ln>
            <a:noFill/>
          </a:ln>
        </p:spPr>
        <p:txBody>
          <a:bodyPr spcFirstLastPara="1" wrap="square" lIns="58773" tIns="29380" rIns="58773" bIns="29380" anchor="ctr" anchorCtr="0">
            <a:noAutofit/>
          </a:bodyPr>
          <a:lstStyle/>
          <a:p>
            <a:pPr algn="ctr">
              <a:buClr>
                <a:srgbClr val="000000"/>
              </a:buClr>
              <a:buSzPts val="6000"/>
            </a:pPr>
            <a:r>
              <a:rPr lang="en-US" sz="3859" b="1" dirty="0">
                <a:solidFill>
                  <a:schemeClr val="lt1"/>
                </a:solidFill>
                <a:latin typeface="Helvetica Neue"/>
                <a:ea typeface="Helvetica Neue"/>
                <a:cs typeface="Helvetica Neue"/>
                <a:sym typeface="Helvetica Neue"/>
              </a:rPr>
              <a:t>Conclusions</a:t>
            </a:r>
            <a:endParaRPr sz="3859" dirty="0">
              <a:solidFill>
                <a:schemeClr val="lt1"/>
              </a:solidFill>
              <a:latin typeface="Helvetica Neue"/>
              <a:ea typeface="Helvetica Neue"/>
              <a:cs typeface="Helvetica Neue"/>
              <a:sym typeface="Helvetica Neue"/>
            </a:endParaRPr>
          </a:p>
        </p:txBody>
      </p:sp>
      <p:sp>
        <p:nvSpPr>
          <p:cNvPr id="472" name="Google Shape;472;p19"/>
          <p:cNvSpPr/>
          <p:nvPr/>
        </p:nvSpPr>
        <p:spPr>
          <a:xfrm>
            <a:off x="33003090" y="14753602"/>
            <a:ext cx="10049225" cy="902736"/>
          </a:xfrm>
          <a:prstGeom prst="rect">
            <a:avLst/>
          </a:prstGeom>
          <a:solidFill>
            <a:srgbClr val="BF5700"/>
          </a:solidFill>
          <a:ln>
            <a:noFill/>
          </a:ln>
        </p:spPr>
        <p:txBody>
          <a:bodyPr spcFirstLastPara="1" wrap="square" lIns="58773" tIns="29380" rIns="58773" bIns="29380" anchor="ctr" anchorCtr="0">
            <a:noAutofit/>
          </a:bodyPr>
          <a:lstStyle/>
          <a:p>
            <a:pPr algn="ctr">
              <a:buClr>
                <a:srgbClr val="000000"/>
              </a:buClr>
              <a:buSzPts val="6000"/>
            </a:pPr>
            <a:r>
              <a:rPr lang="en-US" sz="3859" b="1" dirty="0">
                <a:solidFill>
                  <a:schemeClr val="lt1"/>
                </a:solidFill>
                <a:latin typeface="Helvetica Neue"/>
                <a:ea typeface="Helvetica Neue"/>
                <a:cs typeface="Helvetica Neue"/>
                <a:sym typeface="Helvetica Neue"/>
              </a:rPr>
              <a:t>Future Work</a:t>
            </a:r>
            <a:endParaRPr sz="3859" dirty="0">
              <a:solidFill>
                <a:schemeClr val="lt1"/>
              </a:solidFill>
              <a:latin typeface="Helvetica Neue"/>
              <a:ea typeface="Helvetica Neue"/>
              <a:cs typeface="Helvetica Neue"/>
              <a:sym typeface="Helvetica Neue"/>
            </a:endParaRPr>
          </a:p>
        </p:txBody>
      </p:sp>
      <p:sp>
        <p:nvSpPr>
          <p:cNvPr id="473" name="Google Shape;473;p19"/>
          <p:cNvSpPr txBox="1"/>
          <p:nvPr/>
        </p:nvSpPr>
        <p:spPr>
          <a:xfrm>
            <a:off x="33177504" y="16006811"/>
            <a:ext cx="9869767" cy="13847724"/>
          </a:xfrm>
          <a:prstGeom prst="rect">
            <a:avLst/>
          </a:prstGeom>
          <a:noFill/>
          <a:ln>
            <a:noFill/>
          </a:ln>
        </p:spPr>
        <p:txBody>
          <a:bodyPr spcFirstLastPara="1" wrap="square" lIns="58773" tIns="29380" rIns="58773" bIns="29380" anchor="t" anchorCtr="0">
            <a:spAutoFit/>
          </a:bodyPr>
          <a:lstStyle/>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Analyze Stochastic Distributions:</a:t>
            </a:r>
            <a:r>
              <a:rPr lang="en-US" sz="2800" dirty="0">
                <a:solidFill>
                  <a:schemeClr val="dk1"/>
                </a:solidFill>
                <a:latin typeface="Arial"/>
                <a:ea typeface="Arial"/>
                <a:cs typeface="Arial"/>
                <a:sym typeface="Arial"/>
              </a:rPr>
              <a:t> The current stochastic model does not capture the key outcomes of the deterministic model. This may be due to the Gillespie Algorithm new infections coming from an exponential distribution instead of binomial like the travel flow. Negative binomial is classically used for super-spreading, so we will explore this behavior as well.</a:t>
            </a:r>
          </a:p>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Proportional Stochastic Model: </a:t>
            </a:r>
            <a:r>
              <a:rPr lang="en-US" sz="2800" dirty="0">
                <a:solidFill>
                  <a:schemeClr val="dk1"/>
                </a:solidFill>
                <a:latin typeface="Arial"/>
                <a:ea typeface="Arial"/>
                <a:cs typeface="Arial"/>
                <a:sym typeface="Arial"/>
              </a:rPr>
              <a:t>The Gillespie algorithm will not scale, so stochastic models moving proportions of the population are needed.</a:t>
            </a:r>
          </a:p>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Vectorize matrices: </a:t>
            </a:r>
            <a:r>
              <a:rPr lang="en-US" sz="2800" dirty="0">
                <a:solidFill>
                  <a:schemeClr val="dk1"/>
                </a:solidFill>
                <a:latin typeface="Arial"/>
                <a:ea typeface="Arial"/>
                <a:cs typeface="Arial"/>
                <a:sym typeface="Arial"/>
              </a:rPr>
              <a:t>With 10 subgroups per node, even the deterministic models are significantly slowed down by nested for-loops.</a:t>
            </a:r>
          </a:p>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Modern Models: </a:t>
            </a:r>
            <a:r>
              <a:rPr lang="en-US" sz="2800" dirty="0">
                <a:solidFill>
                  <a:schemeClr val="dk1"/>
                </a:solidFill>
                <a:latin typeface="Arial"/>
                <a:ea typeface="Arial"/>
                <a:cs typeface="Arial"/>
                <a:sym typeface="Arial"/>
              </a:rPr>
              <a:t>The SEATIRD model comes from pre-COVID-19 pandemic understanding of influenza spread. Including hospitalized (H), pre-symptomatic (IP), and asymptomatic (IA) compartments can be critical to effective public health planning and realistic model parameterization. The model below from Bi &amp; Bandekar (2023).</a:t>
            </a: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endParaRPr lang="en-US" sz="2800" dirty="0">
              <a:solidFill>
                <a:schemeClr val="dk1"/>
              </a:solidFill>
              <a:latin typeface="Arial"/>
              <a:ea typeface="Arial"/>
              <a:cs typeface="Arial"/>
              <a:sym typeface="Arial"/>
            </a:endParaRPr>
          </a:p>
          <a:p>
            <a:pPr>
              <a:buClr>
                <a:srgbClr val="000000"/>
              </a:buClr>
              <a:buSzPts val="3200"/>
            </a:pPr>
            <a:endParaRPr lang="en-US" sz="2800" dirty="0">
              <a:solidFill>
                <a:schemeClr val="dk1"/>
              </a:solidFill>
              <a:latin typeface="Arial"/>
              <a:ea typeface="Arial"/>
              <a:cs typeface="Arial"/>
              <a:sym typeface="Arial"/>
            </a:endParaRPr>
          </a:p>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Every US State: </a:t>
            </a:r>
            <a:r>
              <a:rPr lang="en-US" sz="2800" dirty="0">
                <a:solidFill>
                  <a:schemeClr val="dk1"/>
                </a:solidFill>
                <a:latin typeface="Arial"/>
                <a:ea typeface="Arial"/>
                <a:cs typeface="Arial"/>
                <a:sym typeface="Arial"/>
              </a:rPr>
              <a:t>With improved performance we will test the models for every US state at county level and Washington D.C. Texas alone has 254 counties with over 31M people, so significant model improvements will be needed for effective real-time response.</a:t>
            </a:r>
            <a:endParaRPr sz="2400" dirty="0">
              <a:solidFill>
                <a:schemeClr val="dk1"/>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476" name="Google Shape;476;p19"/>
              <p:cNvSpPr txBox="1"/>
              <p:nvPr/>
            </p:nvSpPr>
            <p:spPr>
              <a:xfrm>
                <a:off x="933650" y="12271604"/>
                <a:ext cx="12816897" cy="9046409"/>
              </a:xfrm>
              <a:prstGeom prst="rect">
                <a:avLst/>
              </a:prstGeom>
              <a:noFill/>
              <a:ln>
                <a:noFill/>
              </a:ln>
            </p:spPr>
            <p:txBody>
              <a:bodyPr spcFirstLastPara="1" wrap="square" lIns="58773" tIns="29380" rIns="58773" bIns="29380" anchor="t" anchorCtr="0">
                <a:spAutoFit/>
              </a:bodyPr>
              <a:lstStyle/>
              <a:p>
                <a:pPr>
                  <a:buClr>
                    <a:srgbClr val="000000"/>
                  </a:buClr>
                  <a:buSzPts val="3200"/>
                </a:pPr>
                <a:r>
                  <a:rPr lang="en-US" sz="2800" b="1" dirty="0">
                    <a:solidFill>
                      <a:schemeClr val="dk1"/>
                    </a:solidFill>
                    <a:latin typeface="Arial"/>
                    <a:ea typeface="Arial"/>
                    <a:cs typeface="Arial"/>
                    <a:sym typeface="Arial"/>
                  </a:rPr>
                  <a:t>Modeling:</a:t>
                </a:r>
                <a:r>
                  <a:rPr lang="en-US" sz="2800" dirty="0">
                    <a:solidFill>
                      <a:schemeClr val="dk1"/>
                    </a:solidFill>
                    <a:latin typeface="Arial"/>
                    <a:ea typeface="Arial"/>
                    <a:cs typeface="Arial"/>
                    <a:sym typeface="Arial"/>
                  </a:rPr>
                  <a:t> We used Lonestar6 and “</a:t>
                </a:r>
                <a:r>
                  <a:rPr lang="en-US" sz="2800" dirty="0" err="1">
                    <a:solidFill>
                      <a:schemeClr val="dk1"/>
                    </a:solidFill>
                    <a:latin typeface="Arial"/>
                    <a:ea typeface="Arial"/>
                    <a:cs typeface="Arial"/>
                    <a:sym typeface="Arial"/>
                  </a:rPr>
                  <a:t>pylauncher</a:t>
                </a:r>
                <a:r>
                  <a:rPr lang="en-US" sz="2800" dirty="0">
                    <a:solidFill>
                      <a:schemeClr val="dk1"/>
                    </a:solidFill>
                    <a:latin typeface="Arial"/>
                    <a:ea typeface="Arial"/>
                    <a:cs typeface="Arial"/>
                    <a:sym typeface="Arial"/>
                  </a:rPr>
                  <a:t>” to run 100 compartmental model simulations per parameter combination, 1140 sims in total. Each simulation began in a single node with 0.2% of the low-risk 18-49yro population exposed to infection (1/500, 200/100K, 2000/1M).</a:t>
                </a:r>
              </a:p>
              <a:p>
                <a:pPr marL="1085850" indent="-4572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4 models: 3 fixed/deterministic and 1 random/stochastic</a:t>
                </a:r>
              </a:p>
              <a:p>
                <a:pPr marL="1543050" lvl="1" indent="-4572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Susceptible-Exposed-Infectious-Recovered (SEIR)</a:t>
                </a:r>
              </a:p>
              <a:p>
                <a:pPr marL="1543050" lvl="1" indent="-4572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Susceptible-Exposed-Infectious-Recovered-Susceptible (SEIRS)</a:t>
                </a:r>
              </a:p>
              <a:p>
                <a:pPr marL="1543050" lvl="1" indent="-4572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Susceptible-Exposed-Asymptomatic-Treatable-Infected-Recovered-Deceased (SEATIRD, both fixed and random)</a:t>
                </a:r>
              </a:p>
              <a:p>
                <a:pPr marL="920750" indent="-2921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5 network sizes: 1, 2, 10, 100, and 250 nodes (</a:t>
                </a:r>
                <a14:m>
                  <m:oMath xmlns:m="http://schemas.openxmlformats.org/officeDocument/2006/math">
                    <m:r>
                      <a:rPr lang="en-US" sz="2800" b="0" i="1" smtClean="0">
                        <a:solidFill>
                          <a:schemeClr val="dk1"/>
                        </a:solidFill>
                        <a:latin typeface="Cambria Math" panose="02040503050406030204" pitchFamily="18" charset="0"/>
                        <a:ea typeface="Arial"/>
                        <a:cs typeface="Arial"/>
                        <a:sym typeface="Arial"/>
                      </a:rPr>
                      <m:t>𝑛</m:t>
                    </m:r>
                  </m:oMath>
                </a14:m>
                <a:r>
                  <a:rPr lang="en-US" sz="2800" dirty="0">
                    <a:solidFill>
                      <a:schemeClr val="dk1"/>
                    </a:solidFill>
                    <a:latin typeface="Arial"/>
                    <a:ea typeface="Arial"/>
                    <a:cs typeface="Arial"/>
                    <a:sym typeface="Arial"/>
                  </a:rPr>
                  <a:t>)</a:t>
                </a:r>
              </a:p>
              <a:p>
                <a:pPr marL="920750" indent="-2921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19 R0: 0.5 to 4.1 by 0.2</a:t>
                </a:r>
              </a:p>
              <a:p>
                <a:pPr marL="920750" indent="-2921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3 Population sizes: 500, 100,000 (100K), and 1,000,000 (1M) divided equally to all nodes and age/risk groups</a:t>
                </a:r>
              </a:p>
              <a:p>
                <a:pPr marL="1377950" lvl="1" indent="-2921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2 risk groups (low &amp; high)</a:t>
                </a:r>
              </a:p>
              <a:p>
                <a:pPr marL="1377950" lvl="1" indent="-2921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5 age groups (0-4, 5-17, 18-49, 50-64, and 65+)</a:t>
                </a:r>
              </a:p>
              <a:p>
                <a:pPr marL="60325">
                  <a:buClr>
                    <a:srgbClr val="000000"/>
                  </a:buClr>
                  <a:buSzPts val="3200"/>
                </a:pPr>
                <a:endParaRPr lang="en-US" sz="2800" dirty="0">
                  <a:solidFill>
                    <a:schemeClr val="dk1"/>
                  </a:solidFill>
                  <a:latin typeface="Arial"/>
                  <a:ea typeface="Arial"/>
                  <a:cs typeface="Arial"/>
                  <a:sym typeface="Arial"/>
                </a:endParaRPr>
              </a:p>
              <a:p>
                <a:pPr marL="60325">
                  <a:buClr>
                    <a:srgbClr val="000000"/>
                  </a:buClr>
                  <a:buSzPts val="3200"/>
                </a:pPr>
                <a:r>
                  <a:rPr lang="en-US" sz="2800" dirty="0">
                    <a:solidFill>
                      <a:schemeClr val="dk1"/>
                    </a:solidFill>
                    <a:latin typeface="Arial"/>
                    <a:ea typeface="Arial"/>
                    <a:cs typeface="Arial"/>
                    <a:sym typeface="Arial"/>
                  </a:rPr>
                  <a:t>PES models with more than 1 node draw the number of new infections due to travel from a binomial distribution. All Infectious compartments (Figure 1 and 3, yellow) transmit to visitors, but only Asymptomatic take trips to infect others. In the SEIR model we assume 20% of infectious are asymptomatic. </a:t>
                </a:r>
              </a:p>
              <a:p>
                <a:pPr marL="920750" indent="-292100">
                  <a:buClr>
                    <a:srgbClr val="000000"/>
                  </a:buClr>
                  <a:buSzPts val="3200"/>
                  <a:buFont typeface="Arial" panose="020B0604020202020204" pitchFamily="34" charset="0"/>
                  <a:buChar char="•"/>
                </a:pPr>
                <a:endParaRPr lang="en-US" sz="2400" dirty="0">
                  <a:solidFill>
                    <a:schemeClr val="dk1"/>
                  </a:solidFill>
                  <a:latin typeface="Arial"/>
                  <a:ea typeface="Arial"/>
                  <a:cs typeface="Arial"/>
                  <a:sym typeface="Arial"/>
                </a:endParaRPr>
              </a:p>
            </p:txBody>
          </p:sp>
        </mc:Choice>
        <mc:Fallback>
          <p:sp>
            <p:nvSpPr>
              <p:cNvPr id="476" name="Google Shape;476;p19"/>
              <p:cNvSpPr txBox="1">
                <a:spLocks noRot="1" noChangeAspect="1" noMove="1" noResize="1" noEditPoints="1" noAdjustHandles="1" noChangeArrowheads="1" noChangeShapeType="1" noTextEdit="1"/>
              </p:cNvSpPr>
              <p:nvPr/>
            </p:nvSpPr>
            <p:spPr>
              <a:xfrm>
                <a:off x="933650" y="12271604"/>
                <a:ext cx="12816897" cy="9046409"/>
              </a:xfrm>
              <a:prstGeom prst="rect">
                <a:avLst/>
              </a:prstGeom>
              <a:blipFill>
                <a:blip r:embed="rId4"/>
                <a:stretch>
                  <a:fillRect l="-1287" t="-842" r="-29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12" name="Table 511">
                <a:extLst>
                  <a:ext uri="{FF2B5EF4-FFF2-40B4-BE49-F238E27FC236}">
                    <a16:creationId xmlns:a16="http://schemas.microsoft.com/office/drawing/2014/main" id="{68CBB0D9-91F6-CBF9-C6CA-CD56AE78BFEE}"/>
                  </a:ext>
                </a:extLst>
              </p:cNvPr>
              <p:cNvGraphicFramePr>
                <a:graphicFrameLocks noGrp="1"/>
              </p:cNvGraphicFramePr>
              <p:nvPr>
                <p:extLst>
                  <p:ext uri="{D42A27DB-BD31-4B8C-83A1-F6EECF244321}">
                    <p14:modId xmlns:p14="http://schemas.microsoft.com/office/powerpoint/2010/main" val="3789047924"/>
                  </p:ext>
                </p:extLst>
              </p:nvPr>
            </p:nvGraphicFramePr>
            <p:xfrm>
              <a:off x="5795976" y="23979528"/>
              <a:ext cx="3498807" cy="1651937"/>
            </p:xfrm>
            <a:graphic>
              <a:graphicData uri="http://schemas.openxmlformats.org/drawingml/2006/table">
                <a:tbl>
                  <a:tblPr firstRow="1" bandRow="1">
                    <a:tableStyleId>{5940675A-B579-460E-94D1-54222C63F5DA}</a:tableStyleId>
                  </a:tblPr>
                  <a:tblGrid>
                    <a:gridCol w="1891233">
                      <a:extLst>
                        <a:ext uri="{9D8B030D-6E8A-4147-A177-3AD203B41FA5}">
                          <a16:colId xmlns:a16="http://schemas.microsoft.com/office/drawing/2014/main" val="1739030968"/>
                        </a:ext>
                      </a:extLst>
                    </a:gridCol>
                    <a:gridCol w="442452">
                      <a:extLst>
                        <a:ext uri="{9D8B030D-6E8A-4147-A177-3AD203B41FA5}">
                          <a16:colId xmlns:a16="http://schemas.microsoft.com/office/drawing/2014/main" val="3106690403"/>
                        </a:ext>
                      </a:extLst>
                    </a:gridCol>
                    <a:gridCol w="560439">
                      <a:extLst>
                        <a:ext uri="{9D8B030D-6E8A-4147-A177-3AD203B41FA5}">
                          <a16:colId xmlns:a16="http://schemas.microsoft.com/office/drawing/2014/main" val="4071119933"/>
                        </a:ext>
                      </a:extLst>
                    </a:gridCol>
                    <a:gridCol w="392276">
                      <a:extLst>
                        <a:ext uri="{9D8B030D-6E8A-4147-A177-3AD203B41FA5}">
                          <a16:colId xmlns:a16="http://schemas.microsoft.com/office/drawing/2014/main" val="794579005"/>
                        </a:ext>
                      </a:extLst>
                    </a:gridCol>
                    <a:gridCol w="212407">
                      <a:extLst>
                        <a:ext uri="{9D8B030D-6E8A-4147-A177-3AD203B41FA5}">
                          <a16:colId xmlns:a16="http://schemas.microsoft.com/office/drawing/2014/main" val="4141444907"/>
                        </a:ext>
                      </a:extLst>
                    </a:gridCol>
                  </a:tblGrid>
                  <a:tr h="1085393">
                    <a:tc>
                      <a:txBody>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𝑖𝑎𝑟</m:t>
                                    </m:r>
                                  </m:sub>
                                </m:sSub>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nary>
                                      <m:naryPr>
                                        <m:chr m:val="∑"/>
                                        <m:subHide m:val="on"/>
                                        <m:supHide m:val="on"/>
                                        <m:ctrlPr>
                                          <a:rPr lang="en-US" sz="2400" i="1" smtClean="0">
                                            <a:latin typeface="Cambria Math" panose="02040503050406030204" pitchFamily="18" charset="0"/>
                                          </a:rPr>
                                        </m:ctrlPr>
                                      </m:naryPr>
                                      <m:sub/>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𝑖</m:t>
                                            </m:r>
                                          </m:sub>
                                        </m:sSub>
                                      </m:e>
                                    </m:nary>
                                  </m:num>
                                  <m:den>
                                    <m:r>
                                      <a:rPr lang="en-US" sz="2400" b="0" i="1" smtClean="0">
                                        <a:latin typeface="Cambria Math" panose="02040503050406030204" pitchFamily="18" charset="0"/>
                                      </a:rPr>
                                      <m:t>10</m:t>
                                    </m:r>
                                    <m:r>
                                      <a:rPr lang="en-US" sz="2400" b="0" i="1" smtClean="0">
                                        <a:latin typeface="Cambria Math" panose="02040503050406030204" pitchFamily="18" charset="0"/>
                                      </a:rPr>
                                      <m:t>𝑛</m:t>
                                    </m:r>
                                  </m:den>
                                </m:f>
                              </m:oMath>
                            </m:oMathPara>
                          </a14:m>
                          <a:endParaRPr lang="en-US" sz="2400" dirty="0"/>
                        </a:p>
                      </a:txBody>
                      <a:tcPr anchor="ct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extLst>
                      <a:ext uri="{0D108BD9-81ED-4DB2-BD59-A6C34878D82A}">
                        <a16:rowId xmlns:a16="http://schemas.microsoft.com/office/drawing/2014/main" val="687218769"/>
                      </a:ext>
                    </a:extLst>
                  </a:tr>
                  <a:tr h="566544">
                    <a:tc>
                      <a:txBody>
                        <a:bodyPr/>
                        <a:lstStyle/>
                        <a:p>
                          <a:endParaRPr lang="en-US" sz="2400" dirty="0"/>
                        </a:p>
                      </a:txBody>
                      <a:tcPr>
                        <a:solidFill>
                          <a:srgbClr val="565F41">
                            <a:alpha val="50196"/>
                          </a:srgbClr>
                        </a:solidFill>
                      </a:tcPr>
                    </a:tc>
                    <a:tc>
                      <a:txBody>
                        <a:bodyPr/>
                        <a:lstStyle/>
                        <a:p>
                          <a:endParaRPr lang="en-US" sz="240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extLst>
                      <a:ext uri="{0D108BD9-81ED-4DB2-BD59-A6C34878D82A}">
                        <a16:rowId xmlns:a16="http://schemas.microsoft.com/office/drawing/2014/main" val="2619967140"/>
                      </a:ext>
                    </a:extLst>
                  </a:tr>
                </a:tbl>
              </a:graphicData>
            </a:graphic>
          </p:graphicFrame>
        </mc:Choice>
        <mc:Fallback xmlns="">
          <p:graphicFrame>
            <p:nvGraphicFramePr>
              <p:cNvPr id="512" name="Table 511">
                <a:extLst>
                  <a:ext uri="{FF2B5EF4-FFF2-40B4-BE49-F238E27FC236}">
                    <a16:creationId xmlns:a16="http://schemas.microsoft.com/office/drawing/2014/main" id="{68CBB0D9-91F6-CBF9-C6CA-CD56AE78BFEE}"/>
                  </a:ext>
                </a:extLst>
              </p:cNvPr>
              <p:cNvGraphicFramePr>
                <a:graphicFrameLocks noGrp="1"/>
              </p:cNvGraphicFramePr>
              <p:nvPr>
                <p:extLst>
                  <p:ext uri="{D42A27DB-BD31-4B8C-83A1-F6EECF244321}">
                    <p14:modId xmlns:p14="http://schemas.microsoft.com/office/powerpoint/2010/main" val="3789047924"/>
                  </p:ext>
                </p:extLst>
              </p:nvPr>
            </p:nvGraphicFramePr>
            <p:xfrm>
              <a:off x="5795976" y="23979528"/>
              <a:ext cx="3498807" cy="1651937"/>
            </p:xfrm>
            <a:graphic>
              <a:graphicData uri="http://schemas.openxmlformats.org/drawingml/2006/table">
                <a:tbl>
                  <a:tblPr firstRow="1" bandRow="1">
                    <a:tableStyleId>{5940675A-B579-460E-94D1-54222C63F5DA}</a:tableStyleId>
                  </a:tblPr>
                  <a:tblGrid>
                    <a:gridCol w="1891233">
                      <a:extLst>
                        <a:ext uri="{9D8B030D-6E8A-4147-A177-3AD203B41FA5}">
                          <a16:colId xmlns:a16="http://schemas.microsoft.com/office/drawing/2014/main" val="1739030968"/>
                        </a:ext>
                      </a:extLst>
                    </a:gridCol>
                    <a:gridCol w="442452">
                      <a:extLst>
                        <a:ext uri="{9D8B030D-6E8A-4147-A177-3AD203B41FA5}">
                          <a16:colId xmlns:a16="http://schemas.microsoft.com/office/drawing/2014/main" val="3106690403"/>
                        </a:ext>
                      </a:extLst>
                    </a:gridCol>
                    <a:gridCol w="560439">
                      <a:extLst>
                        <a:ext uri="{9D8B030D-6E8A-4147-A177-3AD203B41FA5}">
                          <a16:colId xmlns:a16="http://schemas.microsoft.com/office/drawing/2014/main" val="4071119933"/>
                        </a:ext>
                      </a:extLst>
                    </a:gridCol>
                    <a:gridCol w="392276">
                      <a:extLst>
                        <a:ext uri="{9D8B030D-6E8A-4147-A177-3AD203B41FA5}">
                          <a16:colId xmlns:a16="http://schemas.microsoft.com/office/drawing/2014/main" val="794579005"/>
                        </a:ext>
                      </a:extLst>
                    </a:gridCol>
                    <a:gridCol w="212407">
                      <a:extLst>
                        <a:ext uri="{9D8B030D-6E8A-4147-A177-3AD203B41FA5}">
                          <a16:colId xmlns:a16="http://schemas.microsoft.com/office/drawing/2014/main" val="4141444907"/>
                        </a:ext>
                      </a:extLst>
                    </a:gridCol>
                  </a:tblGrid>
                  <a:tr h="1085393">
                    <a:tc>
                      <a:txBody>
                        <a:bodyPr/>
                        <a:lstStyle/>
                        <a:p>
                          <a:endParaRPr lang="en-US"/>
                        </a:p>
                      </a:txBody>
                      <a:tcPr anchor="ctr">
                        <a:blipFill>
                          <a:blip r:embed="rId5"/>
                          <a:stretch>
                            <a:fillRect l="-671" t="-44186" r="-85906" b="-53488"/>
                          </a:stretch>
                        </a:blip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extLst>
                      <a:ext uri="{0D108BD9-81ED-4DB2-BD59-A6C34878D82A}">
                        <a16:rowId xmlns:a16="http://schemas.microsoft.com/office/drawing/2014/main" val="687218769"/>
                      </a:ext>
                    </a:extLst>
                  </a:tr>
                  <a:tr h="566544">
                    <a:tc>
                      <a:txBody>
                        <a:bodyPr/>
                        <a:lstStyle/>
                        <a:p>
                          <a:endParaRPr lang="en-US" sz="2400" dirty="0"/>
                        </a:p>
                      </a:txBody>
                      <a:tcPr>
                        <a:solidFill>
                          <a:srgbClr val="565F41">
                            <a:alpha val="50196"/>
                          </a:srgbClr>
                        </a:solidFill>
                      </a:tcPr>
                    </a:tc>
                    <a:tc>
                      <a:txBody>
                        <a:bodyPr/>
                        <a:lstStyle/>
                        <a:p>
                          <a:endParaRPr lang="en-US" sz="240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tc>
                      <a:txBody>
                        <a:bodyPr/>
                        <a:lstStyle/>
                        <a:p>
                          <a:endParaRPr lang="en-US" sz="2400" dirty="0"/>
                        </a:p>
                      </a:txBody>
                      <a:tcPr>
                        <a:solidFill>
                          <a:srgbClr val="565F41">
                            <a:alpha val="50196"/>
                          </a:srgbClr>
                        </a:solidFill>
                      </a:tcPr>
                    </a:tc>
                    <a:extLst>
                      <a:ext uri="{0D108BD9-81ED-4DB2-BD59-A6C34878D82A}">
                        <a16:rowId xmlns:a16="http://schemas.microsoft.com/office/drawing/2014/main" val="2619967140"/>
                      </a:ext>
                    </a:extLst>
                  </a:tr>
                </a:tbl>
              </a:graphicData>
            </a:graphic>
          </p:graphicFrame>
        </mc:Fallback>
      </mc:AlternateContent>
      <mc:AlternateContent xmlns:mc="http://schemas.openxmlformats.org/markup-compatibility/2006">
        <mc:Choice xmlns:a14="http://schemas.microsoft.com/office/drawing/2010/main" Requires="a14">
          <p:sp>
            <p:nvSpPr>
              <p:cNvPr id="478" name="Google Shape;478;p19"/>
              <p:cNvSpPr txBox="1"/>
              <p:nvPr/>
            </p:nvSpPr>
            <p:spPr>
              <a:xfrm>
                <a:off x="24439123" y="6702455"/>
                <a:ext cx="7330326" cy="6953529"/>
              </a:xfrm>
              <a:prstGeom prst="rect">
                <a:avLst/>
              </a:prstGeom>
              <a:noFill/>
              <a:ln>
                <a:noFill/>
              </a:ln>
            </p:spPr>
            <p:txBody>
              <a:bodyPr spcFirstLastPara="1" wrap="square" lIns="58773" tIns="29380" rIns="58773" bIns="29380" anchor="t" anchorCtr="0">
                <a:spAutoFit/>
              </a:bodyPr>
              <a:lstStyle/>
              <a:p>
                <a:pPr marL="342900" indent="-3429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The fixed (deterministic) models move a proportion of the population through compartments, while the random (stochastic) SEATIRD model moves individual people with the Gillespie Algorithm (Figure 3). As the number of infectious people increases due to higher R0 values, the Gillespie algorithm linearly increases runtime with mobility </a:t>
                </a:r>
                <a14:m>
                  <m:oMath xmlns:m="http://schemas.openxmlformats.org/officeDocument/2006/math">
                    <m:r>
                      <a:rPr lang="en-US" sz="2800" i="1" dirty="0" smtClean="0">
                        <a:solidFill>
                          <a:schemeClr val="dk1"/>
                        </a:solidFill>
                        <a:latin typeface="Cambria Math" panose="02040503050406030204" pitchFamily="18" charset="0"/>
                        <a:ea typeface="Cambria Math" panose="02040503050406030204" pitchFamily="18" charset="0"/>
                        <a:cs typeface="Arial"/>
                        <a:sym typeface="Arial"/>
                      </a:rPr>
                      <m:t>≥</m:t>
                    </m:r>
                  </m:oMath>
                </a14:m>
                <a:r>
                  <a:rPr lang="en-US" sz="2800" dirty="0">
                    <a:solidFill>
                      <a:schemeClr val="dk1"/>
                    </a:solidFill>
                    <a:latin typeface="Arial"/>
                    <a:ea typeface="Arial"/>
                    <a:cs typeface="Arial"/>
                    <a:sym typeface="Arial"/>
                  </a:rPr>
                  <a:t> 0.1.</a:t>
                </a:r>
              </a:p>
              <a:p>
                <a:pPr marL="342900" indent="-3429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As network size increases, mobility decreases. The SEIR + SEATIRD model run times decrease at higher R0, but infections take longer to propagate through the network for low R0. </a:t>
                </a:r>
              </a:p>
              <a:p>
                <a:pPr marL="342900" indent="-342900">
                  <a:buClr>
                    <a:srgbClr val="000000"/>
                  </a:buClr>
                  <a:buSzPts val="3200"/>
                  <a:buFont typeface="Arial" panose="020B0604020202020204" pitchFamily="34" charset="0"/>
                  <a:buChar char="•"/>
                </a:pPr>
                <a:r>
                  <a:rPr lang="en-US" sz="2800" dirty="0">
                    <a:solidFill>
                      <a:schemeClr val="dk1"/>
                    </a:solidFill>
                    <a:latin typeface="Arial"/>
                    <a:ea typeface="Arial"/>
                    <a:cs typeface="Arial"/>
                    <a:sym typeface="Arial"/>
                  </a:rPr>
                  <a:t>SEIRS epidemics don’t end and do not decrease run time as R0 increases.</a:t>
                </a:r>
                <a:endParaRPr sz="2800" dirty="0">
                  <a:solidFill>
                    <a:srgbClr val="000000"/>
                  </a:solidFill>
                  <a:latin typeface="Arial"/>
                  <a:ea typeface="Arial"/>
                  <a:cs typeface="Arial"/>
                  <a:sym typeface="Arial"/>
                </a:endParaRPr>
              </a:p>
            </p:txBody>
          </p:sp>
        </mc:Choice>
        <mc:Fallback>
          <p:sp>
            <p:nvSpPr>
              <p:cNvPr id="478" name="Google Shape;478;p19"/>
              <p:cNvSpPr txBox="1">
                <a:spLocks noRot="1" noChangeAspect="1" noMove="1" noResize="1" noEditPoints="1" noAdjustHandles="1" noChangeArrowheads="1" noChangeShapeType="1" noTextEdit="1"/>
              </p:cNvSpPr>
              <p:nvPr/>
            </p:nvSpPr>
            <p:spPr>
              <a:xfrm>
                <a:off x="24439123" y="6702455"/>
                <a:ext cx="7330326" cy="6953529"/>
              </a:xfrm>
              <a:prstGeom prst="rect">
                <a:avLst/>
              </a:prstGeom>
              <a:blipFill>
                <a:blip r:embed="rId6"/>
                <a:stretch>
                  <a:fillRect l="-2422" t="-1639" r="-2249" b="-1639"/>
                </a:stretch>
              </a:blipFill>
              <a:ln>
                <a:no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81" name="Google Shape;481;p19"/>
              <p:cNvSpPr txBox="1"/>
              <p:nvPr/>
            </p:nvSpPr>
            <p:spPr>
              <a:xfrm>
                <a:off x="33177504" y="6688116"/>
                <a:ext cx="9690322" cy="7815303"/>
              </a:xfrm>
              <a:prstGeom prst="rect">
                <a:avLst/>
              </a:prstGeom>
              <a:noFill/>
              <a:ln>
                <a:noFill/>
              </a:ln>
            </p:spPr>
            <p:txBody>
              <a:bodyPr spcFirstLastPara="1" wrap="square" lIns="58773" tIns="29380" rIns="58773" bIns="29380" anchor="t" anchorCtr="0">
                <a:spAutoFit/>
              </a:bodyPr>
              <a:lstStyle/>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Run Time: </a:t>
                </a:r>
                <a:r>
                  <a:rPr lang="en-US" sz="2800" dirty="0">
                    <a:solidFill>
                      <a:schemeClr val="dk1"/>
                    </a:solidFill>
                    <a:latin typeface="Arial"/>
                    <a:ea typeface="Arial"/>
                    <a:cs typeface="Arial"/>
                    <a:sym typeface="Arial"/>
                  </a:rPr>
                  <a:t>Run time increases with model complexity and people infected at once (Figure 2). It is not feasible to run the Gillespie model for US states to quickly respond to emerging epidemics where uncertainty requires many sensitivity analyses of parameters.</a:t>
                </a:r>
              </a:p>
              <a:p>
                <a:pPr marL="342900" indent="-342900">
                  <a:buClr>
                    <a:srgbClr val="000000"/>
                  </a:buClr>
                  <a:buSzPts val="3200"/>
                  <a:buFont typeface="Arial" panose="020B0604020202020204" pitchFamily="34" charset="0"/>
                  <a:buChar char="•"/>
                </a:pPr>
                <a14:m>
                  <m:oMath xmlns:m="http://schemas.openxmlformats.org/officeDocument/2006/math">
                    <m:sSub>
                      <m:sSubPr>
                        <m:ctrlPr>
                          <a:rPr lang="en-US" sz="2800" b="1" i="1">
                            <a:latin typeface="Cambria Math" panose="02040503050406030204" pitchFamily="18" charset="0"/>
                          </a:rPr>
                        </m:ctrlPr>
                      </m:sSubPr>
                      <m:e>
                        <m:r>
                          <a:rPr lang="en-US" sz="2800" b="1" i="1" smtClean="0">
                            <a:latin typeface="Cambria Math" panose="02040503050406030204" pitchFamily="18" charset="0"/>
                          </a:rPr>
                          <m:t>𝑺</m:t>
                        </m:r>
                        <m:r>
                          <a:rPr lang="en-US" sz="2800" b="1" i="1">
                            <a:latin typeface="Cambria Math" panose="02040503050406030204" pitchFamily="18" charset="0"/>
                          </a:rPr>
                          <m:t>𝒊𝒎</m:t>
                        </m:r>
                      </m:e>
                      <m:sub>
                        <m:r>
                          <a:rPr lang="en-US" sz="2800" b="1" i="1">
                            <a:latin typeface="Cambria Math" panose="02040503050406030204" pitchFamily="18" charset="0"/>
                          </a:rPr>
                          <m:t>𝒆𝒔𝒕</m:t>
                        </m:r>
                      </m:sub>
                    </m:sSub>
                    <m:r>
                      <a:rPr lang="en-US" sz="2800" b="1" i="1">
                        <a:latin typeface="Cambria Math" panose="02040503050406030204" pitchFamily="18" charset="0"/>
                      </a:rPr>
                      <m:t> </m:t>
                    </m:r>
                  </m:oMath>
                </a14:m>
                <a:r>
                  <a:rPr lang="en-US" sz="2800" b="1" dirty="0">
                    <a:solidFill>
                      <a:schemeClr val="dk1"/>
                    </a:solidFill>
                    <a:latin typeface="Arial"/>
                    <a:ea typeface="Arial"/>
                    <a:cs typeface="Arial"/>
                    <a:sym typeface="Arial"/>
                  </a:rPr>
                  <a:t>: </a:t>
                </a:r>
                <a:r>
                  <a:rPr lang="en-US" sz="2800" dirty="0">
                    <a:solidFill>
                      <a:schemeClr val="dk1"/>
                    </a:solidFill>
                    <a:latin typeface="Arial"/>
                    <a:ea typeface="Arial"/>
                    <a:cs typeface="Arial"/>
                    <a:sym typeface="Arial"/>
                  </a:rPr>
                  <a:t>Estimated simulations needed to reach 95% confidence matched the true noise in outcomes (Table 1). The binomial travel model and exponential waiting times added little difference in final estimates of infected, recovered, and deceased.</a:t>
                </a:r>
              </a:p>
              <a:p>
                <a:pPr marL="342900" indent="-342900">
                  <a:buClr>
                    <a:srgbClr val="000000"/>
                  </a:buClr>
                  <a:buSzPts val="3200"/>
                  <a:buFont typeface="Arial" panose="020B0604020202020204" pitchFamily="34" charset="0"/>
                  <a:buChar char="•"/>
                </a:pPr>
                <a:r>
                  <a:rPr lang="en-US" sz="2800" b="1" dirty="0">
                    <a:solidFill>
                      <a:schemeClr val="dk1"/>
                    </a:solidFill>
                    <a:latin typeface="Arial"/>
                    <a:ea typeface="Arial"/>
                    <a:cs typeface="Arial"/>
                    <a:sym typeface="Arial"/>
                  </a:rPr>
                  <a:t>Model Comparison: </a:t>
                </a:r>
                <a:r>
                  <a:rPr lang="en-US" sz="2800" dirty="0">
                    <a:solidFill>
                      <a:schemeClr val="dk1"/>
                    </a:solidFill>
                    <a:latin typeface="Arial"/>
                    <a:ea typeface="Arial"/>
                    <a:cs typeface="Arial"/>
                    <a:sym typeface="Arial"/>
                  </a:rPr>
                  <a:t>Fixed/deterministic SEATIRD model was not captured by the random/stochastic model. The deceased outcome is less likely to occur than recovered, resulting in a larger difference between stochastic and deterministic solution sets (Figure 4). However, hospitalized and deceased compartments are often the most useful to public health officials planning interventions.</a:t>
                </a:r>
                <a:endParaRPr sz="2800" dirty="0">
                  <a:solidFill>
                    <a:schemeClr val="dk1"/>
                  </a:solidFill>
                  <a:latin typeface="Arial"/>
                  <a:ea typeface="Arial"/>
                  <a:cs typeface="Arial"/>
                  <a:sym typeface="Arial"/>
                </a:endParaRPr>
              </a:p>
            </p:txBody>
          </p:sp>
        </mc:Choice>
        <mc:Fallback>
          <p:sp>
            <p:nvSpPr>
              <p:cNvPr id="481" name="Google Shape;481;p19"/>
              <p:cNvSpPr txBox="1">
                <a:spLocks noRot="1" noChangeAspect="1" noMove="1" noResize="1" noEditPoints="1" noAdjustHandles="1" noChangeArrowheads="1" noChangeShapeType="1" noTextEdit="1"/>
              </p:cNvSpPr>
              <p:nvPr/>
            </p:nvSpPr>
            <p:spPr>
              <a:xfrm>
                <a:off x="33177504" y="6688116"/>
                <a:ext cx="9690322" cy="7815303"/>
              </a:xfrm>
              <a:prstGeom prst="rect">
                <a:avLst/>
              </a:prstGeom>
              <a:blipFill>
                <a:blip r:embed="rId7"/>
                <a:stretch>
                  <a:fillRect l="-1832" t="-1461" r="-1963" b="-1461"/>
                </a:stretch>
              </a:blipFill>
              <a:ln>
                <a:noFill/>
              </a:ln>
            </p:spPr>
            <p:txBody>
              <a:bodyPr/>
              <a:lstStyle/>
              <a:p>
                <a:r>
                  <a:rPr lang="en-US">
                    <a:noFill/>
                  </a:rPr>
                  <a:t> </a:t>
                </a:r>
              </a:p>
            </p:txBody>
          </p:sp>
        </mc:Fallback>
      </mc:AlternateContent>
      <p:sp>
        <p:nvSpPr>
          <p:cNvPr id="486" name="Google Shape;486;p19"/>
          <p:cNvSpPr txBox="1"/>
          <p:nvPr/>
        </p:nvSpPr>
        <p:spPr>
          <a:xfrm>
            <a:off x="941659" y="829871"/>
            <a:ext cx="27245298" cy="2152214"/>
          </a:xfrm>
          <a:prstGeom prst="rect">
            <a:avLst/>
          </a:prstGeom>
          <a:noFill/>
          <a:ln>
            <a:noFill/>
          </a:ln>
        </p:spPr>
        <p:txBody>
          <a:bodyPr spcFirstLastPara="1" wrap="square" lIns="58773" tIns="29380" rIns="58773" bIns="29380" anchor="t" anchorCtr="0">
            <a:spAutoFit/>
          </a:bodyPr>
          <a:lstStyle/>
          <a:p>
            <a:r>
              <a:rPr lang="en-US" sz="6800" b="1" dirty="0"/>
              <a:t>Balancing accuracy and urgency for real-time epidemic response:</a:t>
            </a:r>
            <a:endParaRPr lang="en-US" sz="6800" dirty="0"/>
          </a:p>
          <a:p>
            <a:r>
              <a:rPr lang="en-US" sz="6800" b="1" dirty="0"/>
              <a:t>How many stochastic simulations is enough?</a:t>
            </a:r>
            <a:endParaRPr lang="en-US" sz="6800" dirty="0"/>
          </a:p>
        </p:txBody>
      </p:sp>
      <p:sp>
        <p:nvSpPr>
          <p:cNvPr id="487" name="Google Shape;487;p19"/>
          <p:cNvSpPr txBox="1"/>
          <p:nvPr/>
        </p:nvSpPr>
        <p:spPr>
          <a:xfrm>
            <a:off x="1015999" y="3071694"/>
            <a:ext cx="24394286" cy="2226787"/>
          </a:xfrm>
          <a:prstGeom prst="rect">
            <a:avLst/>
          </a:prstGeom>
          <a:noFill/>
          <a:ln>
            <a:noFill/>
          </a:ln>
        </p:spPr>
        <p:txBody>
          <a:bodyPr spcFirstLastPara="1" wrap="square" lIns="58773" tIns="29380" rIns="58773" bIns="29380" anchor="t" anchorCtr="0">
            <a:spAutoFit/>
          </a:bodyPr>
          <a:lstStyle/>
          <a:p>
            <a:pPr>
              <a:lnSpc>
                <a:spcPct val="114000"/>
              </a:lnSpc>
              <a:buClr>
                <a:srgbClr val="000000"/>
              </a:buClr>
              <a:buSzPts val="4800"/>
            </a:pPr>
            <a:r>
              <a:rPr lang="en-US" sz="3090" dirty="0">
                <a:solidFill>
                  <a:schemeClr val="dk1"/>
                </a:solidFill>
                <a:latin typeface="Arial" panose="020B0604020202020204" pitchFamily="34" charset="0"/>
                <a:ea typeface="Arial"/>
                <a:cs typeface="Arial" panose="020B0604020202020204" pitchFamily="34" charset="0"/>
                <a:sym typeface="Arial"/>
              </a:rPr>
              <a:t>Emily M. Javan</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solidFill>
                  <a:schemeClr val="dk1"/>
                </a:solidFill>
                <a:latin typeface="Arial" panose="020B0604020202020204" pitchFamily="34" charset="0"/>
                <a:ea typeface="Arial"/>
                <a:cs typeface="Arial" panose="020B0604020202020204" pitchFamily="34" charset="0"/>
                <a:sym typeface="Arial"/>
              </a:rPr>
              <a:t>, William J. Allen</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solidFill>
                  <a:schemeClr val="dk1"/>
                </a:solidFill>
                <a:latin typeface="Arial" panose="020B0604020202020204" pitchFamily="34" charset="0"/>
                <a:ea typeface="Arial"/>
                <a:cs typeface="Arial" panose="020B0604020202020204" pitchFamily="34" charset="0"/>
                <a:sym typeface="Arial"/>
              </a:rPr>
              <a:t>, </a:t>
            </a:r>
            <a:r>
              <a:rPr lang="en-US" sz="3090" dirty="0">
                <a:latin typeface="Arial" panose="020B0604020202020204" pitchFamily="34" charset="0"/>
                <a:cs typeface="Arial" panose="020B0604020202020204" pitchFamily="34" charset="0"/>
              </a:rPr>
              <a:t>Lena Duplechin Seymour</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latin typeface="Arial" panose="020B0604020202020204" pitchFamily="34" charset="0"/>
                <a:cs typeface="Arial" panose="020B0604020202020204" pitchFamily="34" charset="0"/>
              </a:rPr>
              <a:t>, </a:t>
            </a:r>
            <a:r>
              <a:rPr lang="en-US" sz="3090" dirty="0">
                <a:solidFill>
                  <a:schemeClr val="dk1"/>
                </a:solidFill>
                <a:latin typeface="Arial" panose="020B0604020202020204" pitchFamily="34" charset="0"/>
                <a:ea typeface="Arial"/>
                <a:cs typeface="Arial" panose="020B0604020202020204" pitchFamily="34" charset="0"/>
                <a:sym typeface="Arial"/>
              </a:rPr>
              <a:t>Shraddha Ramdas Bandekar</a:t>
            </a:r>
            <a:r>
              <a:rPr lang="en-US" sz="3090" baseline="30000" dirty="0">
                <a:solidFill>
                  <a:schemeClr val="dk1"/>
                </a:solidFill>
                <a:latin typeface="Arial" panose="020B0604020202020204" pitchFamily="34" charset="0"/>
                <a:ea typeface="Arial"/>
                <a:cs typeface="Arial" panose="020B0604020202020204" pitchFamily="34" charset="0"/>
                <a:sym typeface="Arial"/>
              </a:rPr>
              <a:t>2</a:t>
            </a:r>
            <a:r>
              <a:rPr lang="en-US" sz="3090" dirty="0">
                <a:solidFill>
                  <a:schemeClr val="dk1"/>
                </a:solidFill>
                <a:latin typeface="Arial" panose="020B0604020202020204" pitchFamily="34" charset="0"/>
                <a:ea typeface="Arial"/>
                <a:cs typeface="Arial" panose="020B0604020202020204" pitchFamily="34" charset="0"/>
                <a:sym typeface="Arial"/>
              </a:rPr>
              <a:t>, Remy F. Pasco</a:t>
            </a:r>
            <a:r>
              <a:rPr lang="en-US" sz="3090" baseline="30000" dirty="0">
                <a:solidFill>
                  <a:schemeClr val="dk1"/>
                </a:solidFill>
                <a:latin typeface="Arial" panose="020B0604020202020204" pitchFamily="34" charset="0"/>
                <a:ea typeface="Arial"/>
                <a:cs typeface="Arial" panose="020B0604020202020204" pitchFamily="34" charset="0"/>
                <a:sym typeface="Arial"/>
              </a:rPr>
              <a:t>3</a:t>
            </a:r>
            <a:r>
              <a:rPr lang="en-US" sz="3090" dirty="0">
                <a:solidFill>
                  <a:schemeClr val="dk1"/>
                </a:solidFill>
                <a:latin typeface="Arial" panose="020B0604020202020204" pitchFamily="34" charset="0"/>
                <a:ea typeface="Arial"/>
                <a:cs typeface="Arial" panose="020B0604020202020204" pitchFamily="34" charset="0"/>
                <a:sym typeface="Arial"/>
              </a:rPr>
              <a:t>,  </a:t>
            </a:r>
            <a:r>
              <a:rPr lang="en-US" sz="3090" dirty="0" err="1">
                <a:latin typeface="Arial" panose="020B0604020202020204" pitchFamily="34" charset="0"/>
                <a:cs typeface="Arial" panose="020B0604020202020204" pitchFamily="34" charset="0"/>
              </a:rPr>
              <a:t>Sarosha</a:t>
            </a:r>
            <a:r>
              <a:rPr lang="en-US" sz="3090" dirty="0">
                <a:latin typeface="Arial" panose="020B0604020202020204" pitchFamily="34" charset="0"/>
                <a:cs typeface="Arial" panose="020B0604020202020204" pitchFamily="34" charset="0"/>
              </a:rPr>
              <a:t> Prasla</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latin typeface="Arial" panose="020B0604020202020204" pitchFamily="34" charset="0"/>
                <a:cs typeface="Arial" panose="020B0604020202020204" pitchFamily="34" charset="0"/>
              </a:rPr>
              <a:t>,</a:t>
            </a:r>
            <a:r>
              <a:rPr lang="en-US" sz="3090" dirty="0">
                <a:solidFill>
                  <a:schemeClr val="dk1"/>
                </a:solidFill>
                <a:latin typeface="Arial" panose="020B0604020202020204" pitchFamily="34" charset="0"/>
                <a:ea typeface="Arial"/>
                <a:cs typeface="Arial" panose="020B0604020202020204" pitchFamily="34" charset="0"/>
                <a:sym typeface="Arial"/>
              </a:rPr>
              <a:t> </a:t>
            </a:r>
          </a:p>
          <a:p>
            <a:pPr>
              <a:lnSpc>
                <a:spcPct val="114000"/>
              </a:lnSpc>
              <a:buClr>
                <a:srgbClr val="000000"/>
              </a:buClr>
              <a:buSzPts val="4800"/>
            </a:pPr>
            <a:r>
              <a:rPr lang="en-US" sz="3090" dirty="0">
                <a:latin typeface="Arial" panose="020B0604020202020204" pitchFamily="34" charset="0"/>
                <a:cs typeface="Arial" panose="020B0604020202020204" pitchFamily="34" charset="0"/>
              </a:rPr>
              <a:t>Gladys Chen</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latin typeface="Arial" panose="020B0604020202020204" pitchFamily="34" charset="0"/>
                <a:cs typeface="Arial" panose="020B0604020202020204" pitchFamily="34" charset="0"/>
              </a:rPr>
              <a:t>, Vennela Gajjala</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latin typeface="Arial" panose="020B0604020202020204" pitchFamily="34" charset="0"/>
                <a:cs typeface="Arial" panose="020B0604020202020204" pitchFamily="34" charset="0"/>
              </a:rPr>
              <a:t>, Maytal Dahan</a:t>
            </a:r>
            <a:r>
              <a:rPr lang="en-US" sz="3090" baseline="30000" dirty="0">
                <a:solidFill>
                  <a:schemeClr val="dk1"/>
                </a:solidFill>
                <a:latin typeface="Arial" panose="020B0604020202020204" pitchFamily="34" charset="0"/>
                <a:ea typeface="Arial"/>
                <a:cs typeface="Arial" panose="020B0604020202020204" pitchFamily="34" charset="0"/>
                <a:sym typeface="Arial"/>
              </a:rPr>
              <a:t>1</a:t>
            </a:r>
            <a:r>
              <a:rPr lang="en-US" sz="3090" dirty="0">
                <a:latin typeface="Arial" panose="020B0604020202020204" pitchFamily="34" charset="0"/>
                <a:cs typeface="Arial" panose="020B0604020202020204" pitchFamily="34" charset="0"/>
              </a:rPr>
              <a:t>,</a:t>
            </a:r>
            <a:r>
              <a:rPr lang="en-US" sz="3090" dirty="0">
                <a:solidFill>
                  <a:schemeClr val="dk1"/>
                </a:solidFill>
                <a:latin typeface="Arial" panose="020B0604020202020204" pitchFamily="34" charset="0"/>
                <a:ea typeface="Arial"/>
                <a:cs typeface="Arial" panose="020B0604020202020204" pitchFamily="34" charset="0"/>
                <a:sym typeface="Arial"/>
              </a:rPr>
              <a:t> Lauren Ancel Meyers</a:t>
            </a:r>
            <a:r>
              <a:rPr lang="en-US" sz="3090" baseline="30000" dirty="0">
                <a:solidFill>
                  <a:schemeClr val="dk1"/>
                </a:solidFill>
                <a:latin typeface="Arial" panose="020B0604020202020204" pitchFamily="34" charset="0"/>
                <a:ea typeface="Arial"/>
                <a:cs typeface="Arial" panose="020B0604020202020204" pitchFamily="34" charset="0"/>
                <a:sym typeface="Arial"/>
              </a:rPr>
              <a:t>2</a:t>
            </a:r>
            <a:br>
              <a:rPr lang="en-US" sz="3085" dirty="0">
                <a:solidFill>
                  <a:schemeClr val="dk1"/>
                </a:solidFill>
                <a:latin typeface="Arial" panose="020B0604020202020204" pitchFamily="34" charset="0"/>
                <a:ea typeface="Arial"/>
                <a:cs typeface="Arial" panose="020B0604020202020204" pitchFamily="34" charset="0"/>
                <a:sym typeface="Arial"/>
              </a:rPr>
            </a:br>
            <a:r>
              <a:rPr lang="en-US" sz="3085" baseline="30000" dirty="0">
                <a:solidFill>
                  <a:schemeClr val="dk1"/>
                </a:solidFill>
                <a:latin typeface="Arial" panose="020B0604020202020204" pitchFamily="34" charset="0"/>
                <a:ea typeface="Arial"/>
                <a:cs typeface="Arial" panose="020B0604020202020204" pitchFamily="34" charset="0"/>
                <a:sym typeface="Arial"/>
              </a:rPr>
              <a:t>1</a:t>
            </a:r>
            <a:r>
              <a:rPr lang="en-US" sz="3085" dirty="0">
                <a:solidFill>
                  <a:schemeClr val="dk1"/>
                </a:solidFill>
                <a:latin typeface="Arial" panose="020B0604020202020204" pitchFamily="34" charset="0"/>
                <a:ea typeface="Arial"/>
                <a:cs typeface="Arial" panose="020B0604020202020204" pitchFamily="34" charset="0"/>
                <a:sym typeface="Arial"/>
              </a:rPr>
              <a:t>Texas Advanced Computing Center, </a:t>
            </a:r>
            <a:r>
              <a:rPr lang="en-US" sz="3085" baseline="30000" dirty="0">
                <a:solidFill>
                  <a:schemeClr val="dk1"/>
                </a:solidFill>
                <a:latin typeface="Arial" panose="020B0604020202020204" pitchFamily="34" charset="0"/>
                <a:ea typeface="Arial"/>
                <a:cs typeface="Arial" panose="020B0604020202020204" pitchFamily="34" charset="0"/>
                <a:sym typeface="Arial"/>
              </a:rPr>
              <a:t>2</a:t>
            </a:r>
            <a:r>
              <a:rPr lang="en-US" sz="3085" dirty="0">
                <a:solidFill>
                  <a:schemeClr val="dk1"/>
                </a:solidFill>
                <a:latin typeface="Arial" panose="020B0604020202020204" pitchFamily="34" charset="0"/>
                <a:ea typeface="Arial"/>
                <a:cs typeface="Arial" panose="020B0604020202020204" pitchFamily="34" charset="0"/>
                <a:sym typeface="Arial"/>
              </a:rPr>
              <a:t>Department of Integrative Biology, </a:t>
            </a:r>
            <a:r>
              <a:rPr lang="en-US" sz="3085" dirty="0">
                <a:solidFill>
                  <a:schemeClr val="dk1"/>
                </a:solidFill>
                <a:latin typeface="Arial"/>
                <a:ea typeface="Arial"/>
                <a:cs typeface="Arial"/>
                <a:sym typeface="Arial"/>
              </a:rPr>
              <a:t>The University of Texas at Austin, </a:t>
            </a:r>
          </a:p>
          <a:p>
            <a:pPr>
              <a:lnSpc>
                <a:spcPct val="114000"/>
              </a:lnSpc>
              <a:buClr>
                <a:srgbClr val="000000"/>
              </a:buClr>
              <a:buSzPts val="4800"/>
            </a:pPr>
            <a:r>
              <a:rPr lang="en-US" sz="3085" baseline="30000" dirty="0">
                <a:solidFill>
                  <a:schemeClr val="dk1"/>
                </a:solidFill>
                <a:latin typeface="Arial"/>
                <a:ea typeface="Arial"/>
                <a:cs typeface="Arial"/>
                <a:sym typeface="Arial"/>
              </a:rPr>
              <a:t>3</a:t>
            </a:r>
            <a:r>
              <a:rPr lang="en-US" sz="3090" dirty="0">
                <a:latin typeface="Arial" panose="020B0604020202020204" pitchFamily="34" charset="0"/>
                <a:cs typeface="Arial" panose="020B0604020202020204" pitchFamily="34" charset="0"/>
              </a:rPr>
              <a:t>BioFrontiers Institute</a:t>
            </a:r>
            <a:r>
              <a:rPr lang="en-US" sz="3090" dirty="0">
                <a:solidFill>
                  <a:schemeClr val="dk1"/>
                </a:solidFill>
                <a:latin typeface="Arial" panose="020B0604020202020204" pitchFamily="34" charset="0"/>
                <a:ea typeface="Arial"/>
                <a:cs typeface="Arial" panose="020B0604020202020204" pitchFamily="34" charset="0"/>
                <a:sym typeface="Arial"/>
              </a:rPr>
              <a:t>, </a:t>
            </a:r>
            <a:r>
              <a:rPr lang="en-US" sz="3090" dirty="0">
                <a:solidFill>
                  <a:schemeClr val="dk1"/>
                </a:solidFill>
                <a:latin typeface="Arial"/>
                <a:ea typeface="Arial"/>
                <a:cs typeface="Arial"/>
                <a:sym typeface="Arial"/>
              </a:rPr>
              <a:t>University </a:t>
            </a:r>
            <a:r>
              <a:rPr lang="en-US" sz="3085" dirty="0">
                <a:solidFill>
                  <a:schemeClr val="dk1"/>
                </a:solidFill>
                <a:latin typeface="Arial"/>
                <a:ea typeface="Arial"/>
                <a:cs typeface="Arial"/>
                <a:sym typeface="Arial"/>
              </a:rPr>
              <a:t>of Colorado at Boulder</a:t>
            </a:r>
            <a:endParaRPr sz="900" dirty="0">
              <a:solidFill>
                <a:srgbClr val="000000"/>
              </a:solidFill>
              <a:latin typeface="Arial"/>
              <a:ea typeface="Arial"/>
              <a:cs typeface="Arial"/>
              <a:sym typeface="Arial"/>
            </a:endParaRPr>
          </a:p>
        </p:txBody>
      </p:sp>
      <p:pic>
        <p:nvPicPr>
          <p:cNvPr id="549" name="Picture 548" descr="A red white and blue logo&#10;&#10;AI-generated content may be incorrect.">
            <a:extLst>
              <a:ext uri="{FF2B5EF4-FFF2-40B4-BE49-F238E27FC236}">
                <a16:creationId xmlns:a16="http://schemas.microsoft.com/office/drawing/2014/main" id="{D59EB9E0-1739-C035-375E-1A419767D6F9}"/>
              </a:ext>
            </a:extLst>
          </p:cNvPr>
          <p:cNvPicPr>
            <a:picLocks noChangeAspect="1"/>
          </p:cNvPicPr>
          <p:nvPr/>
        </p:nvPicPr>
        <p:blipFill>
          <a:blip r:embed="rId8"/>
          <a:stretch>
            <a:fillRect/>
          </a:stretch>
        </p:blipFill>
        <p:spPr>
          <a:xfrm>
            <a:off x="29471325" y="953965"/>
            <a:ext cx="4175975" cy="1085096"/>
          </a:xfrm>
          <a:prstGeom prst="rect">
            <a:avLst/>
          </a:prstGeom>
        </p:spPr>
      </p:pic>
      <p:pic>
        <p:nvPicPr>
          <p:cNvPr id="551" name="Picture 550" descr="A grey and blue logo&#10;&#10;AI-generated content may be incorrect.">
            <a:extLst>
              <a:ext uri="{FF2B5EF4-FFF2-40B4-BE49-F238E27FC236}">
                <a16:creationId xmlns:a16="http://schemas.microsoft.com/office/drawing/2014/main" id="{16FA6353-C9B6-1F0A-A63E-1774CF085449}"/>
              </a:ext>
            </a:extLst>
          </p:cNvPr>
          <p:cNvPicPr>
            <a:picLocks noChangeAspect="1"/>
          </p:cNvPicPr>
          <p:nvPr/>
        </p:nvPicPr>
        <p:blipFill>
          <a:blip r:embed="rId9"/>
          <a:stretch>
            <a:fillRect/>
          </a:stretch>
        </p:blipFill>
        <p:spPr>
          <a:xfrm>
            <a:off x="31016934" y="2591843"/>
            <a:ext cx="2232762" cy="1958145"/>
          </a:xfrm>
          <a:prstGeom prst="rect">
            <a:avLst/>
          </a:prstGeom>
        </p:spPr>
      </p:pic>
      <p:pic>
        <p:nvPicPr>
          <p:cNvPr id="555" name="Picture 554" descr="A close up of a logo&#10;&#10;AI-generated content may be incorrect.">
            <a:extLst>
              <a:ext uri="{FF2B5EF4-FFF2-40B4-BE49-F238E27FC236}">
                <a16:creationId xmlns:a16="http://schemas.microsoft.com/office/drawing/2014/main" id="{1D7BBAE4-A1BB-1E62-9E76-134C7484C598}"/>
              </a:ext>
            </a:extLst>
          </p:cNvPr>
          <p:cNvPicPr>
            <a:picLocks noChangeAspect="1"/>
          </p:cNvPicPr>
          <p:nvPr/>
        </p:nvPicPr>
        <p:blipFill>
          <a:blip r:embed="rId10"/>
          <a:stretch>
            <a:fillRect/>
          </a:stretch>
        </p:blipFill>
        <p:spPr>
          <a:xfrm>
            <a:off x="35846642" y="991953"/>
            <a:ext cx="4487646" cy="1276174"/>
          </a:xfrm>
          <a:prstGeom prst="rect">
            <a:avLst/>
          </a:prstGeom>
        </p:spPr>
      </p:pic>
      <p:pic>
        <p:nvPicPr>
          <p:cNvPr id="565" name="Picture 564" descr="A logo with a star and text&#10;&#10;AI-generated content may be incorrect.">
            <a:extLst>
              <a:ext uri="{FF2B5EF4-FFF2-40B4-BE49-F238E27FC236}">
                <a16:creationId xmlns:a16="http://schemas.microsoft.com/office/drawing/2014/main" id="{54AB9C9E-475F-70E8-B6B8-769AD2E38D47}"/>
              </a:ext>
            </a:extLst>
          </p:cNvPr>
          <p:cNvPicPr>
            <a:picLocks noChangeAspect="1"/>
          </p:cNvPicPr>
          <p:nvPr/>
        </p:nvPicPr>
        <p:blipFill>
          <a:blip r:embed="rId11"/>
          <a:stretch>
            <a:fillRect/>
          </a:stretch>
        </p:blipFill>
        <p:spPr>
          <a:xfrm>
            <a:off x="34623846" y="2899315"/>
            <a:ext cx="7772400" cy="2091879"/>
          </a:xfrm>
          <a:prstGeom prst="rect">
            <a:avLst/>
          </a:prstGeom>
        </p:spPr>
      </p:pic>
      <p:grpSp>
        <p:nvGrpSpPr>
          <p:cNvPr id="569" name="Group 568">
            <a:extLst>
              <a:ext uri="{FF2B5EF4-FFF2-40B4-BE49-F238E27FC236}">
                <a16:creationId xmlns:a16="http://schemas.microsoft.com/office/drawing/2014/main" id="{EC7E87BD-D7D9-9BC4-C38E-522221F23922}"/>
              </a:ext>
            </a:extLst>
          </p:cNvPr>
          <p:cNvGrpSpPr/>
          <p:nvPr/>
        </p:nvGrpSpPr>
        <p:grpSpPr>
          <a:xfrm>
            <a:off x="14937934" y="7029199"/>
            <a:ext cx="9127659" cy="9355335"/>
            <a:chOff x="13353467" y="6809944"/>
            <a:chExt cx="9230285" cy="8868306"/>
          </a:xfrm>
        </p:grpSpPr>
        <p:grpSp>
          <p:nvGrpSpPr>
            <p:cNvPr id="568" name="Group 567">
              <a:extLst>
                <a:ext uri="{FF2B5EF4-FFF2-40B4-BE49-F238E27FC236}">
                  <a16:creationId xmlns:a16="http://schemas.microsoft.com/office/drawing/2014/main" id="{A67DABCE-4217-DD73-9A45-5800A8E4677B}"/>
                </a:ext>
              </a:extLst>
            </p:cNvPr>
            <p:cNvGrpSpPr/>
            <p:nvPr/>
          </p:nvGrpSpPr>
          <p:grpSpPr>
            <a:xfrm>
              <a:off x="13353467" y="6809944"/>
              <a:ext cx="9230285" cy="8868306"/>
              <a:chOff x="13353468" y="6801870"/>
              <a:chExt cx="9230285" cy="8868306"/>
            </a:xfrm>
          </p:grpSpPr>
          <p:grpSp>
            <p:nvGrpSpPr>
              <p:cNvPr id="567" name="Group 566">
                <a:extLst>
                  <a:ext uri="{FF2B5EF4-FFF2-40B4-BE49-F238E27FC236}">
                    <a16:creationId xmlns:a16="http://schemas.microsoft.com/office/drawing/2014/main" id="{9C4BCD28-0F10-A090-05E9-0ABF0E97AC66}"/>
                  </a:ext>
                </a:extLst>
              </p:cNvPr>
              <p:cNvGrpSpPr/>
              <p:nvPr/>
            </p:nvGrpSpPr>
            <p:grpSpPr>
              <a:xfrm>
                <a:off x="13353468" y="6801870"/>
                <a:ext cx="9230285" cy="8868306"/>
                <a:chOff x="13353468" y="6801870"/>
                <a:chExt cx="9230285" cy="8868306"/>
              </a:xfrm>
            </p:grpSpPr>
            <p:grpSp>
              <p:nvGrpSpPr>
                <p:cNvPr id="532" name="Group 531">
                  <a:extLst>
                    <a:ext uri="{FF2B5EF4-FFF2-40B4-BE49-F238E27FC236}">
                      <a16:creationId xmlns:a16="http://schemas.microsoft.com/office/drawing/2014/main" id="{189D9536-643D-4BB2-3D4F-C652C3E0A592}"/>
                    </a:ext>
                  </a:extLst>
                </p:cNvPr>
                <p:cNvGrpSpPr/>
                <p:nvPr/>
              </p:nvGrpSpPr>
              <p:grpSpPr>
                <a:xfrm>
                  <a:off x="13424300" y="7675967"/>
                  <a:ext cx="9114045" cy="6447498"/>
                  <a:chOff x="13506555" y="6628086"/>
                  <a:chExt cx="9114045" cy="6447498"/>
                </a:xfrm>
              </p:grpSpPr>
              <p:pic>
                <p:nvPicPr>
                  <p:cNvPr id="517" name="Picture 516" descr="A graph of different sizes and colors&#10;&#10;AI-generated content may be incorrect.">
                    <a:extLst>
                      <a:ext uri="{FF2B5EF4-FFF2-40B4-BE49-F238E27FC236}">
                        <a16:creationId xmlns:a16="http://schemas.microsoft.com/office/drawing/2014/main" id="{F222A47E-C91D-0C4E-96DB-F83552309E9F}"/>
                      </a:ext>
                    </a:extLst>
                  </p:cNvPr>
                  <p:cNvPicPr>
                    <a:picLocks noChangeAspect="1"/>
                  </p:cNvPicPr>
                  <p:nvPr/>
                </p:nvPicPr>
                <p:blipFill>
                  <a:blip r:embed="rId12"/>
                  <a:srcRect l="33720" t="93151" r="28166" b="1793"/>
                  <a:stretch>
                    <a:fillRect/>
                  </a:stretch>
                </p:blipFill>
                <p:spPr>
                  <a:xfrm>
                    <a:off x="15106807" y="12543291"/>
                    <a:ext cx="4815260" cy="532293"/>
                  </a:xfrm>
                  <a:prstGeom prst="rect">
                    <a:avLst/>
                  </a:prstGeom>
                </p:spPr>
              </p:pic>
              <p:sp>
                <p:nvSpPr>
                  <p:cNvPr id="522" name="TextBox 521">
                    <a:extLst>
                      <a:ext uri="{FF2B5EF4-FFF2-40B4-BE49-F238E27FC236}">
                        <a16:creationId xmlns:a16="http://schemas.microsoft.com/office/drawing/2014/main" id="{C0E31C93-1359-6AE3-5153-722E05471362}"/>
                      </a:ext>
                    </a:extLst>
                  </p:cNvPr>
                  <p:cNvSpPr txBox="1"/>
                  <p:nvPr/>
                </p:nvSpPr>
                <p:spPr>
                  <a:xfrm>
                    <a:off x="21256275" y="7648423"/>
                    <a:ext cx="1237839" cy="461665"/>
                  </a:xfrm>
                  <a:prstGeom prst="rect">
                    <a:avLst/>
                  </a:prstGeom>
                  <a:noFill/>
                </p:spPr>
                <p:txBody>
                  <a:bodyPr wrap="none" rtlCol="0">
                    <a:spAutoFit/>
                  </a:bodyPr>
                  <a:lstStyle/>
                  <a:p>
                    <a:r>
                      <a:rPr lang="en-US" sz="2400" dirty="0"/>
                      <a:t>Mobility</a:t>
                    </a:r>
                  </a:p>
                </p:txBody>
              </p:sp>
              <p:sp>
                <p:nvSpPr>
                  <p:cNvPr id="523" name="Down Arrow 522">
                    <a:extLst>
                      <a:ext uri="{FF2B5EF4-FFF2-40B4-BE49-F238E27FC236}">
                        <a16:creationId xmlns:a16="http://schemas.microsoft.com/office/drawing/2014/main" id="{3613EA8F-DCC6-BF47-1340-C9339A1CE0B8}"/>
                      </a:ext>
                    </a:extLst>
                  </p:cNvPr>
                  <p:cNvSpPr/>
                  <p:nvPr/>
                </p:nvSpPr>
                <p:spPr>
                  <a:xfrm>
                    <a:off x="21573588" y="8110088"/>
                    <a:ext cx="457200" cy="4025661"/>
                  </a:xfrm>
                  <a:prstGeom prst="downArrow">
                    <a:avLst>
                      <a:gd name="adj1" fmla="val 50000"/>
                      <a:gd name="adj2" fmla="val 85000"/>
                    </a:avLst>
                  </a:prstGeom>
                  <a:gradFill>
                    <a:gsLst>
                      <a:gs pos="0">
                        <a:srgbClr val="B1460E"/>
                      </a:gs>
                      <a:gs pos="59000">
                        <a:schemeClr val="bg1"/>
                      </a:gs>
                      <a:gs pos="79000">
                        <a:srgbClr val="2E8289"/>
                      </a:gs>
                      <a:gs pos="100000">
                        <a:srgbClr val="2E8289"/>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4" name="TextBox 523">
                    <a:extLst>
                      <a:ext uri="{FF2B5EF4-FFF2-40B4-BE49-F238E27FC236}">
                        <a16:creationId xmlns:a16="http://schemas.microsoft.com/office/drawing/2014/main" id="{D4713D4E-CE5B-4582-3C0B-C329CEF051C8}"/>
                      </a:ext>
                    </a:extLst>
                  </p:cNvPr>
                  <p:cNvSpPr txBox="1"/>
                  <p:nvPr/>
                </p:nvSpPr>
                <p:spPr>
                  <a:xfrm>
                    <a:off x="21875194" y="8355854"/>
                    <a:ext cx="497252" cy="369332"/>
                  </a:xfrm>
                  <a:prstGeom prst="rect">
                    <a:avLst/>
                  </a:prstGeom>
                  <a:noFill/>
                </p:spPr>
                <p:txBody>
                  <a:bodyPr wrap="none" rtlCol="0">
                    <a:spAutoFit/>
                  </a:bodyPr>
                  <a:lstStyle/>
                  <a:p>
                    <a:r>
                      <a:rPr lang="en-US" dirty="0"/>
                      <a:t>0.5</a:t>
                    </a:r>
                  </a:p>
                </p:txBody>
              </p:sp>
              <p:sp>
                <p:nvSpPr>
                  <p:cNvPr id="525" name="TextBox 524">
                    <a:extLst>
                      <a:ext uri="{FF2B5EF4-FFF2-40B4-BE49-F238E27FC236}">
                        <a16:creationId xmlns:a16="http://schemas.microsoft.com/office/drawing/2014/main" id="{A9E9D017-46A0-3578-C6B6-0CCE2E11ABC1}"/>
                      </a:ext>
                    </a:extLst>
                  </p:cNvPr>
                  <p:cNvSpPr txBox="1"/>
                  <p:nvPr/>
                </p:nvSpPr>
                <p:spPr>
                  <a:xfrm>
                    <a:off x="21875194" y="9340284"/>
                    <a:ext cx="497252" cy="369332"/>
                  </a:xfrm>
                  <a:prstGeom prst="rect">
                    <a:avLst/>
                  </a:prstGeom>
                  <a:noFill/>
                </p:spPr>
                <p:txBody>
                  <a:bodyPr wrap="none" rtlCol="0">
                    <a:spAutoFit/>
                  </a:bodyPr>
                  <a:lstStyle/>
                  <a:p>
                    <a:r>
                      <a:rPr lang="en-US" dirty="0"/>
                      <a:t>0.1</a:t>
                    </a:r>
                  </a:p>
                </p:txBody>
              </p:sp>
              <p:sp>
                <p:nvSpPr>
                  <p:cNvPr id="526" name="TextBox 525">
                    <a:extLst>
                      <a:ext uri="{FF2B5EF4-FFF2-40B4-BE49-F238E27FC236}">
                        <a16:creationId xmlns:a16="http://schemas.microsoft.com/office/drawing/2014/main" id="{6099557E-0D33-712D-5856-54EF55C72D25}"/>
                      </a:ext>
                    </a:extLst>
                  </p:cNvPr>
                  <p:cNvSpPr txBox="1"/>
                  <p:nvPr/>
                </p:nvSpPr>
                <p:spPr>
                  <a:xfrm>
                    <a:off x="21875194" y="10324714"/>
                    <a:ext cx="620683" cy="369332"/>
                  </a:xfrm>
                  <a:prstGeom prst="rect">
                    <a:avLst/>
                  </a:prstGeom>
                  <a:noFill/>
                </p:spPr>
                <p:txBody>
                  <a:bodyPr wrap="none" rtlCol="0">
                    <a:spAutoFit/>
                  </a:bodyPr>
                  <a:lstStyle/>
                  <a:p>
                    <a:r>
                      <a:rPr lang="en-US" dirty="0"/>
                      <a:t>0.01</a:t>
                    </a:r>
                  </a:p>
                </p:txBody>
              </p:sp>
              <p:sp>
                <p:nvSpPr>
                  <p:cNvPr id="527" name="TextBox 526">
                    <a:extLst>
                      <a:ext uri="{FF2B5EF4-FFF2-40B4-BE49-F238E27FC236}">
                        <a16:creationId xmlns:a16="http://schemas.microsoft.com/office/drawing/2014/main" id="{E232E426-3143-9C74-1F10-83D31E7185E7}"/>
                      </a:ext>
                    </a:extLst>
                  </p:cNvPr>
                  <p:cNvSpPr txBox="1"/>
                  <p:nvPr/>
                </p:nvSpPr>
                <p:spPr>
                  <a:xfrm>
                    <a:off x="21876486" y="11309145"/>
                    <a:ext cx="744114" cy="369332"/>
                  </a:xfrm>
                  <a:prstGeom prst="rect">
                    <a:avLst/>
                  </a:prstGeom>
                  <a:noFill/>
                </p:spPr>
                <p:txBody>
                  <a:bodyPr wrap="none" rtlCol="0">
                    <a:spAutoFit/>
                  </a:bodyPr>
                  <a:lstStyle/>
                  <a:p>
                    <a:r>
                      <a:rPr lang="en-US" dirty="0"/>
                      <a:t>0.004</a:t>
                    </a:r>
                  </a:p>
                </p:txBody>
              </p:sp>
              <p:pic>
                <p:nvPicPr>
                  <p:cNvPr id="530" name="Picture 529" descr="A graph of different types of data&#10;&#10;AI-generated content may be incorrect.">
                    <a:extLst>
                      <a:ext uri="{FF2B5EF4-FFF2-40B4-BE49-F238E27FC236}">
                        <a16:creationId xmlns:a16="http://schemas.microsoft.com/office/drawing/2014/main" id="{578E7A5D-7FF3-A945-003C-176DFDF69B9E}"/>
                      </a:ext>
                    </a:extLst>
                  </p:cNvPr>
                  <p:cNvPicPr>
                    <a:picLocks noChangeAspect="1"/>
                  </p:cNvPicPr>
                  <p:nvPr/>
                </p:nvPicPr>
                <p:blipFill>
                  <a:blip r:embed="rId13"/>
                  <a:srcRect b="11211"/>
                  <a:stretch>
                    <a:fillRect/>
                  </a:stretch>
                </p:blipFill>
                <p:spPr>
                  <a:xfrm>
                    <a:off x="13506555" y="6628086"/>
                    <a:ext cx="7772400" cy="5915205"/>
                  </a:xfrm>
                  <a:prstGeom prst="rect">
                    <a:avLst/>
                  </a:prstGeom>
                </p:spPr>
              </p:pic>
            </p:grpSp>
            <p:sp>
              <p:nvSpPr>
                <p:cNvPr id="533" name="Down Arrow 532">
                  <a:extLst>
                    <a:ext uri="{FF2B5EF4-FFF2-40B4-BE49-F238E27FC236}">
                      <a16:creationId xmlns:a16="http://schemas.microsoft.com/office/drawing/2014/main" id="{F00B8CA6-CA3A-E7DE-42E0-26694FC8C7D8}"/>
                    </a:ext>
                  </a:extLst>
                </p:cNvPr>
                <p:cNvSpPr/>
                <p:nvPr/>
              </p:nvSpPr>
              <p:spPr>
                <a:xfrm rot="16200000">
                  <a:off x="17376926" y="3971548"/>
                  <a:ext cx="457200" cy="6851354"/>
                </a:xfrm>
                <a:prstGeom prst="downArrow">
                  <a:avLst>
                    <a:gd name="adj1" fmla="val 50000"/>
                    <a:gd name="adj2" fmla="val 85000"/>
                  </a:avLst>
                </a:prstGeom>
                <a:gradFill>
                  <a:gsLst>
                    <a:gs pos="0">
                      <a:srgbClr val="2E8289"/>
                    </a:gs>
                    <a:gs pos="59000">
                      <a:schemeClr val="bg1"/>
                    </a:gs>
                    <a:gs pos="79000">
                      <a:srgbClr val="B4674E"/>
                    </a:gs>
                    <a:gs pos="100000">
                      <a:srgbClr val="B1460E"/>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4" name="TextBox 533">
                  <a:extLst>
                    <a:ext uri="{FF2B5EF4-FFF2-40B4-BE49-F238E27FC236}">
                      <a16:creationId xmlns:a16="http://schemas.microsoft.com/office/drawing/2014/main" id="{DF110D84-4770-013A-0DBD-2A761CF83D26}"/>
                    </a:ext>
                  </a:extLst>
                </p:cNvPr>
                <p:cNvSpPr txBox="1"/>
                <p:nvPr/>
              </p:nvSpPr>
              <p:spPr>
                <a:xfrm>
                  <a:off x="16766282" y="6801870"/>
                  <a:ext cx="1690014" cy="461665"/>
                </a:xfrm>
                <a:prstGeom prst="rect">
                  <a:avLst/>
                </a:prstGeom>
                <a:noFill/>
              </p:spPr>
              <p:txBody>
                <a:bodyPr wrap="none" rtlCol="0">
                  <a:spAutoFit/>
                </a:bodyPr>
                <a:lstStyle/>
                <a:p>
                  <a:r>
                    <a:rPr lang="en-US" sz="2400" dirty="0"/>
                    <a:t>Complexity</a:t>
                  </a:r>
                </a:p>
              </p:txBody>
            </p:sp>
            <p:sp>
              <p:nvSpPr>
                <p:cNvPr id="542" name="TextBox 541">
                  <a:extLst>
                    <a:ext uri="{FF2B5EF4-FFF2-40B4-BE49-F238E27FC236}">
                      <a16:creationId xmlns:a16="http://schemas.microsoft.com/office/drawing/2014/main" id="{55F28758-FE3C-2586-E123-C6449823899B}"/>
                    </a:ext>
                  </a:extLst>
                </p:cNvPr>
                <p:cNvSpPr txBox="1"/>
                <p:nvPr/>
              </p:nvSpPr>
              <p:spPr>
                <a:xfrm>
                  <a:off x="13353468" y="14182231"/>
                  <a:ext cx="9230285" cy="1487945"/>
                </a:xfrm>
                <a:prstGeom prst="rect">
                  <a:avLst/>
                </a:prstGeom>
                <a:noFill/>
              </p:spPr>
              <p:txBody>
                <a:bodyPr wrap="square" rtlCol="0">
                  <a:spAutoFit/>
                </a:bodyPr>
                <a:lstStyle/>
                <a:p>
                  <a:r>
                    <a:rPr lang="en-US" sz="2400" b="1" dirty="0"/>
                    <a:t>Figure 2 </a:t>
                  </a:r>
                  <a:r>
                    <a:rPr lang="en-US" sz="2400" dirty="0"/>
                    <a:t>Mean and standard deviation of simulation run times varying R0 (infectiousness), total population (500, 100K, and 1 million), and nodes in the network. All simulations start with 0.2% of population infected in a single node.</a:t>
                  </a:r>
                </a:p>
              </p:txBody>
            </p:sp>
          </p:grpSp>
          <p:sp>
            <p:nvSpPr>
              <p:cNvPr id="544" name="TextBox 543">
                <a:extLst>
                  <a:ext uri="{FF2B5EF4-FFF2-40B4-BE49-F238E27FC236}">
                    <a16:creationId xmlns:a16="http://schemas.microsoft.com/office/drawing/2014/main" id="{6FA3A0AA-623B-ACBA-6589-521A73A11FC5}"/>
                  </a:ext>
                </a:extLst>
              </p:cNvPr>
              <p:cNvSpPr txBox="1"/>
              <p:nvPr/>
            </p:nvSpPr>
            <p:spPr>
              <a:xfrm>
                <a:off x="17921283" y="10266279"/>
                <a:ext cx="1305344" cy="584775"/>
              </a:xfrm>
              <a:prstGeom prst="rect">
                <a:avLst/>
              </a:prstGeom>
              <a:noFill/>
            </p:spPr>
            <p:txBody>
              <a:bodyPr wrap="square" rtlCol="0">
                <a:spAutoFit/>
              </a:bodyPr>
              <a:lstStyle/>
              <a:p>
                <a:pPr algn="ctr"/>
                <a:r>
                  <a:rPr lang="en-US" sz="1600" dirty="0"/>
                  <a:t>Higher R0 a little faster</a:t>
                </a:r>
              </a:p>
            </p:txBody>
          </p:sp>
          <p:sp>
            <p:nvSpPr>
              <p:cNvPr id="545" name="TextBox 544">
                <a:extLst>
                  <a:ext uri="{FF2B5EF4-FFF2-40B4-BE49-F238E27FC236}">
                    <a16:creationId xmlns:a16="http://schemas.microsoft.com/office/drawing/2014/main" id="{BCC7A4E5-5A29-F5CD-06B9-0130B7AE0C95}"/>
                  </a:ext>
                </a:extLst>
              </p:cNvPr>
              <p:cNvSpPr txBox="1"/>
              <p:nvPr/>
            </p:nvSpPr>
            <p:spPr>
              <a:xfrm>
                <a:off x="14564308" y="11132882"/>
                <a:ext cx="1305344" cy="584775"/>
              </a:xfrm>
              <a:prstGeom prst="rect">
                <a:avLst/>
              </a:prstGeom>
              <a:noFill/>
            </p:spPr>
            <p:txBody>
              <a:bodyPr wrap="square" rtlCol="0">
                <a:spAutoFit/>
              </a:bodyPr>
              <a:lstStyle/>
              <a:p>
                <a:pPr algn="ctr"/>
                <a:r>
                  <a:rPr lang="en-US" sz="1600" dirty="0"/>
                  <a:t>R0~1 epi ends slowly</a:t>
                </a:r>
              </a:p>
            </p:txBody>
          </p:sp>
        </p:grpSp>
        <p:sp>
          <p:nvSpPr>
            <p:cNvPr id="531" name="TextBox 530">
              <a:extLst>
                <a:ext uri="{FF2B5EF4-FFF2-40B4-BE49-F238E27FC236}">
                  <a16:creationId xmlns:a16="http://schemas.microsoft.com/office/drawing/2014/main" id="{3CD5D2E3-F48A-230D-FA7C-AEE39D59B810}"/>
                </a:ext>
              </a:extLst>
            </p:cNvPr>
            <p:cNvSpPr txBox="1"/>
            <p:nvPr/>
          </p:nvSpPr>
          <p:spPr>
            <a:xfrm>
              <a:off x="15948836" y="9053549"/>
              <a:ext cx="1453873" cy="830997"/>
            </a:xfrm>
            <a:prstGeom prst="rect">
              <a:avLst/>
            </a:prstGeom>
            <a:noFill/>
          </p:spPr>
          <p:txBody>
            <a:bodyPr wrap="square" rtlCol="0">
              <a:spAutoFit/>
            </a:bodyPr>
            <a:lstStyle/>
            <a:p>
              <a:pPr algn="ctr"/>
              <a:r>
                <a:rPr lang="en-US" sz="1600" dirty="0"/>
                <a:t>Run time not impacted by pop size</a:t>
              </a:r>
            </a:p>
          </p:txBody>
        </p:sp>
        <p:sp>
          <p:nvSpPr>
            <p:cNvPr id="535" name="TextBox 534">
              <a:extLst>
                <a:ext uri="{FF2B5EF4-FFF2-40B4-BE49-F238E27FC236}">
                  <a16:creationId xmlns:a16="http://schemas.microsoft.com/office/drawing/2014/main" id="{EAF5FA36-9262-AC73-1E55-382D0A7A0D9E}"/>
                </a:ext>
              </a:extLst>
            </p:cNvPr>
            <p:cNvSpPr txBox="1"/>
            <p:nvPr/>
          </p:nvSpPr>
          <p:spPr>
            <a:xfrm>
              <a:off x="15997347" y="12403192"/>
              <a:ext cx="1356852" cy="584775"/>
            </a:xfrm>
            <a:prstGeom prst="rect">
              <a:avLst/>
            </a:prstGeom>
            <a:noFill/>
          </p:spPr>
          <p:txBody>
            <a:bodyPr wrap="square" rtlCol="0">
              <a:spAutoFit/>
            </a:bodyPr>
            <a:lstStyle/>
            <a:p>
              <a:pPr algn="ctr"/>
              <a:r>
                <a:rPr lang="en-US" sz="1600" dirty="0"/>
                <a:t>Epidemic doesn’t end</a:t>
              </a:r>
            </a:p>
          </p:txBody>
        </p:sp>
      </p:grpSp>
      <p:grpSp>
        <p:nvGrpSpPr>
          <p:cNvPr id="601" name="Group 600">
            <a:extLst>
              <a:ext uri="{FF2B5EF4-FFF2-40B4-BE49-F238E27FC236}">
                <a16:creationId xmlns:a16="http://schemas.microsoft.com/office/drawing/2014/main" id="{25C4B3FD-97A9-B78B-07E7-16AF9D2E3FCC}"/>
              </a:ext>
            </a:extLst>
          </p:cNvPr>
          <p:cNvGrpSpPr/>
          <p:nvPr/>
        </p:nvGrpSpPr>
        <p:grpSpPr>
          <a:xfrm>
            <a:off x="896968" y="21208688"/>
            <a:ext cx="12978468" cy="6417637"/>
            <a:chOff x="933647" y="21045513"/>
            <a:chExt cx="12978468" cy="6417637"/>
          </a:xfrm>
        </p:grpSpPr>
        <p:grpSp>
          <p:nvGrpSpPr>
            <p:cNvPr id="521" name="Group 520">
              <a:extLst>
                <a:ext uri="{FF2B5EF4-FFF2-40B4-BE49-F238E27FC236}">
                  <a16:creationId xmlns:a16="http://schemas.microsoft.com/office/drawing/2014/main" id="{11D757E3-AFCC-D398-622B-150AA86936F4}"/>
                </a:ext>
              </a:extLst>
            </p:cNvPr>
            <p:cNvGrpSpPr/>
            <p:nvPr/>
          </p:nvGrpSpPr>
          <p:grpSpPr>
            <a:xfrm>
              <a:off x="8648784" y="21164042"/>
              <a:ext cx="4710202" cy="2477985"/>
              <a:chOff x="288450" y="24054698"/>
              <a:chExt cx="7671103" cy="3501659"/>
            </a:xfrm>
          </p:grpSpPr>
          <p:sp>
            <p:nvSpPr>
              <p:cNvPr id="457" name="Oval 456">
                <a:extLst>
                  <a:ext uri="{FF2B5EF4-FFF2-40B4-BE49-F238E27FC236}">
                    <a16:creationId xmlns:a16="http://schemas.microsoft.com/office/drawing/2014/main" id="{FC8AA3C8-40C6-05DA-33CD-761FA9EBF26B}"/>
                  </a:ext>
                </a:extLst>
              </p:cNvPr>
              <p:cNvSpPr/>
              <p:nvPr/>
            </p:nvSpPr>
            <p:spPr>
              <a:xfrm>
                <a:off x="288450" y="24054698"/>
                <a:ext cx="7671103" cy="3501659"/>
              </a:xfrm>
              <a:prstGeom prst="ellipse">
                <a:avLst/>
              </a:prstGeom>
              <a:solidFill>
                <a:schemeClr val="bg2">
                  <a:lumMod val="90000"/>
                  <a:alpha val="55000"/>
                </a:schemeClr>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Curved Connector 60">
                <a:extLst>
                  <a:ext uri="{FF2B5EF4-FFF2-40B4-BE49-F238E27FC236}">
                    <a16:creationId xmlns:a16="http://schemas.microsoft.com/office/drawing/2014/main" id="{DBFAB521-32B4-0E79-2517-8354424220E3}"/>
                  </a:ext>
                </a:extLst>
              </p:cNvPr>
              <p:cNvCxnSpPr>
                <a:cxnSpLocks/>
                <a:stCxn id="7" idx="0"/>
                <a:endCxn id="4" idx="0"/>
              </p:cNvCxnSpPr>
              <p:nvPr/>
            </p:nvCxnSpPr>
            <p:spPr>
              <a:xfrm rot="16200000" flipV="1">
                <a:off x="4148028" y="22831333"/>
                <a:ext cx="3315" cy="5498830"/>
              </a:xfrm>
              <a:prstGeom prst="curvedConnector3">
                <a:avLst>
                  <a:gd name="adj1" fmla="val 31302383"/>
                </a:avLst>
              </a:prstGeom>
              <a:ln w="63500" cap="rnd">
                <a:solidFill>
                  <a:schemeClr val="tx1"/>
                </a:solidFill>
                <a:prstDash val="solid"/>
                <a:headEnd type="none" w="lg" len="lg"/>
                <a:tailEnd type="arrow" w="lg" len="sm"/>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6BA76298-E132-9851-6666-06B19BA6F6A0}"/>
                  </a:ext>
                </a:extLst>
              </p:cNvPr>
              <p:cNvSpPr/>
              <p:nvPr/>
            </p:nvSpPr>
            <p:spPr>
              <a:xfrm>
                <a:off x="952695" y="25579090"/>
                <a:ext cx="895150" cy="902736"/>
              </a:xfrm>
              <a:prstGeom prst="rect">
                <a:avLst/>
              </a:prstGeom>
              <a:solidFill>
                <a:srgbClr val="565F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S</a:t>
                </a:r>
              </a:p>
            </p:txBody>
          </p:sp>
          <p:sp>
            <p:nvSpPr>
              <p:cNvPr id="5" name="Rectangle 4">
                <a:extLst>
                  <a:ext uri="{FF2B5EF4-FFF2-40B4-BE49-F238E27FC236}">
                    <a16:creationId xmlns:a16="http://schemas.microsoft.com/office/drawing/2014/main" id="{59F58E4D-BB47-DBD4-CC22-D1386F2FC63C}"/>
                  </a:ext>
                </a:extLst>
              </p:cNvPr>
              <p:cNvSpPr/>
              <p:nvPr/>
            </p:nvSpPr>
            <p:spPr>
              <a:xfrm>
                <a:off x="2776787" y="25579090"/>
                <a:ext cx="895151" cy="902736"/>
              </a:xfrm>
              <a:prstGeom prst="rect">
                <a:avLst/>
              </a:prstGeom>
              <a:solidFill>
                <a:srgbClr val="2E82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E</a:t>
                </a:r>
              </a:p>
            </p:txBody>
          </p:sp>
          <p:sp>
            <p:nvSpPr>
              <p:cNvPr id="6" name="Rectangle 5">
                <a:extLst>
                  <a:ext uri="{FF2B5EF4-FFF2-40B4-BE49-F238E27FC236}">
                    <a16:creationId xmlns:a16="http://schemas.microsoft.com/office/drawing/2014/main" id="{F2A14B03-B33D-672C-3DEB-F44538C1D569}"/>
                  </a:ext>
                </a:extLst>
              </p:cNvPr>
              <p:cNvSpPr/>
              <p:nvPr/>
            </p:nvSpPr>
            <p:spPr>
              <a:xfrm>
                <a:off x="4614156" y="25582405"/>
                <a:ext cx="895151" cy="902736"/>
              </a:xfrm>
              <a:prstGeom prst="rect">
                <a:avLst/>
              </a:prstGeom>
              <a:solidFill>
                <a:srgbClr val="EAAE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I</a:t>
                </a:r>
              </a:p>
            </p:txBody>
          </p:sp>
          <p:sp>
            <p:nvSpPr>
              <p:cNvPr id="7" name="Rectangle 6">
                <a:extLst>
                  <a:ext uri="{FF2B5EF4-FFF2-40B4-BE49-F238E27FC236}">
                    <a16:creationId xmlns:a16="http://schemas.microsoft.com/office/drawing/2014/main" id="{FBE2BD51-C1EB-1462-20F6-33CA3997B03E}"/>
                  </a:ext>
                </a:extLst>
              </p:cNvPr>
              <p:cNvSpPr/>
              <p:nvPr/>
            </p:nvSpPr>
            <p:spPr>
              <a:xfrm>
                <a:off x="6451524" y="25582405"/>
                <a:ext cx="895152" cy="902736"/>
              </a:xfrm>
              <a:prstGeom prst="rect">
                <a:avLst/>
              </a:prstGeom>
              <a:solidFill>
                <a:srgbClr val="B1460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R</a:t>
                </a:r>
              </a:p>
            </p:txBody>
          </p:sp>
          <p:cxnSp>
            <p:nvCxnSpPr>
              <p:cNvPr id="51" name="Straight Arrow Connector 50">
                <a:extLst>
                  <a:ext uri="{FF2B5EF4-FFF2-40B4-BE49-F238E27FC236}">
                    <a16:creationId xmlns:a16="http://schemas.microsoft.com/office/drawing/2014/main" id="{EB92512E-5AC4-21ED-8BEF-6DA971727402}"/>
                  </a:ext>
                </a:extLst>
              </p:cNvPr>
              <p:cNvCxnSpPr>
                <a:cxnSpLocks/>
              </p:cNvCxnSpPr>
              <p:nvPr/>
            </p:nvCxnSpPr>
            <p:spPr>
              <a:xfrm flipV="1">
                <a:off x="1837586" y="26030458"/>
                <a:ext cx="962736" cy="1"/>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9DC6486E-96BC-3CB3-3A17-76E347C0270A}"/>
                  </a:ext>
                </a:extLst>
              </p:cNvPr>
              <p:cNvCxnSpPr>
                <a:cxnSpLocks/>
              </p:cNvCxnSpPr>
              <p:nvPr/>
            </p:nvCxnSpPr>
            <p:spPr>
              <a:xfrm flipV="1">
                <a:off x="3651419" y="26030457"/>
                <a:ext cx="962736" cy="1"/>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17EB0BF1-7386-1181-0BEA-9B02AB05DA40}"/>
                  </a:ext>
                </a:extLst>
              </p:cNvPr>
              <p:cNvCxnSpPr>
                <a:cxnSpLocks/>
              </p:cNvCxnSpPr>
              <p:nvPr/>
            </p:nvCxnSpPr>
            <p:spPr>
              <a:xfrm flipV="1">
                <a:off x="5509307" y="26030457"/>
                <a:ext cx="962736" cy="1"/>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grpSp>
        <p:grpSp>
          <p:nvGrpSpPr>
            <p:cNvPr id="518" name="Group 517">
              <a:extLst>
                <a:ext uri="{FF2B5EF4-FFF2-40B4-BE49-F238E27FC236}">
                  <a16:creationId xmlns:a16="http://schemas.microsoft.com/office/drawing/2014/main" id="{102CC2D1-86F2-3121-4E2A-4406CE35D9D2}"/>
                </a:ext>
              </a:extLst>
            </p:cNvPr>
            <p:cNvGrpSpPr/>
            <p:nvPr/>
          </p:nvGrpSpPr>
          <p:grpSpPr>
            <a:xfrm>
              <a:off x="5391470" y="22810011"/>
              <a:ext cx="3003569" cy="2378659"/>
              <a:chOff x="7911057" y="18259316"/>
              <a:chExt cx="3003569" cy="2378659"/>
            </a:xfrm>
          </p:grpSpPr>
          <p:sp>
            <p:nvSpPr>
              <p:cNvPr id="513" name="TextBox 512">
                <a:extLst>
                  <a:ext uri="{FF2B5EF4-FFF2-40B4-BE49-F238E27FC236}">
                    <a16:creationId xmlns:a16="http://schemas.microsoft.com/office/drawing/2014/main" id="{2E956DA0-908B-CCCF-56CE-40B9D0D27B72}"/>
                  </a:ext>
                </a:extLst>
              </p:cNvPr>
              <p:cNvSpPr txBox="1"/>
              <p:nvPr/>
            </p:nvSpPr>
            <p:spPr>
              <a:xfrm>
                <a:off x="8595632" y="18811075"/>
                <a:ext cx="2318994" cy="461665"/>
              </a:xfrm>
              <a:prstGeom prst="rect">
                <a:avLst/>
              </a:prstGeom>
              <a:noFill/>
            </p:spPr>
            <p:txBody>
              <a:bodyPr wrap="square" rtlCol="0">
                <a:spAutoFit/>
              </a:bodyPr>
              <a:lstStyle/>
              <a:p>
                <a:r>
                  <a:rPr lang="en-US" sz="2400" dirty="0"/>
                  <a:t>5 Age Groups</a:t>
                </a:r>
              </a:p>
            </p:txBody>
          </p:sp>
          <p:sp>
            <p:nvSpPr>
              <p:cNvPr id="516" name="TextBox 515">
                <a:extLst>
                  <a:ext uri="{FF2B5EF4-FFF2-40B4-BE49-F238E27FC236}">
                    <a16:creationId xmlns:a16="http://schemas.microsoft.com/office/drawing/2014/main" id="{32EB0C7B-99CF-EC02-053F-21295431E1D4}"/>
                  </a:ext>
                </a:extLst>
              </p:cNvPr>
              <p:cNvSpPr txBox="1"/>
              <p:nvPr/>
            </p:nvSpPr>
            <p:spPr>
              <a:xfrm rot="16200000">
                <a:off x="6952560" y="19217813"/>
                <a:ext cx="2378659" cy="461665"/>
              </a:xfrm>
              <a:prstGeom prst="rect">
                <a:avLst/>
              </a:prstGeom>
              <a:noFill/>
            </p:spPr>
            <p:txBody>
              <a:bodyPr wrap="square" rtlCol="0">
                <a:spAutoFit/>
              </a:bodyPr>
              <a:lstStyle/>
              <a:p>
                <a:r>
                  <a:rPr lang="en-US" sz="2400" dirty="0"/>
                  <a:t>2 Risk Grp</a:t>
                </a:r>
              </a:p>
            </p:txBody>
          </p:sp>
        </p:grpSp>
        <p:grpSp>
          <p:nvGrpSpPr>
            <p:cNvPr id="566" name="Group 565">
              <a:extLst>
                <a:ext uri="{FF2B5EF4-FFF2-40B4-BE49-F238E27FC236}">
                  <a16:creationId xmlns:a16="http://schemas.microsoft.com/office/drawing/2014/main" id="{2172D8DF-4A12-3DA3-940D-ADCC293895E4}"/>
                </a:ext>
              </a:extLst>
            </p:cNvPr>
            <p:cNvGrpSpPr/>
            <p:nvPr/>
          </p:nvGrpSpPr>
          <p:grpSpPr>
            <a:xfrm>
              <a:off x="933647" y="21045513"/>
              <a:ext cx="5396131" cy="4484312"/>
              <a:chOff x="10014941" y="24228073"/>
              <a:chExt cx="5396131" cy="4484312"/>
            </a:xfrm>
          </p:grpSpPr>
          <p:grpSp>
            <p:nvGrpSpPr>
              <p:cNvPr id="519" name="Group 518">
                <a:extLst>
                  <a:ext uri="{FF2B5EF4-FFF2-40B4-BE49-F238E27FC236}">
                    <a16:creationId xmlns:a16="http://schemas.microsoft.com/office/drawing/2014/main" id="{5DDA67CC-353A-B181-F40C-CCDB01AB8887}"/>
                  </a:ext>
                </a:extLst>
              </p:cNvPr>
              <p:cNvGrpSpPr/>
              <p:nvPr/>
            </p:nvGrpSpPr>
            <p:grpSpPr>
              <a:xfrm>
                <a:off x="10014941" y="24228073"/>
                <a:ext cx="5396131" cy="4484312"/>
                <a:chOff x="952695" y="18325969"/>
                <a:chExt cx="5396131" cy="4484312"/>
              </a:xfrm>
            </p:grpSpPr>
            <p:sp>
              <p:nvSpPr>
                <p:cNvPr id="460" name="Oval 459">
                  <a:extLst>
                    <a:ext uri="{FF2B5EF4-FFF2-40B4-BE49-F238E27FC236}">
                      <a16:creationId xmlns:a16="http://schemas.microsoft.com/office/drawing/2014/main" id="{0D546441-782C-A173-9827-5D6CD4790CF8}"/>
                    </a:ext>
                  </a:extLst>
                </p:cNvPr>
                <p:cNvSpPr/>
                <p:nvPr/>
              </p:nvSpPr>
              <p:spPr>
                <a:xfrm>
                  <a:off x="4631698" y="18325969"/>
                  <a:ext cx="1717128" cy="1739456"/>
                </a:xfrm>
                <a:prstGeom prst="ellipse">
                  <a:avLst/>
                </a:prstGeom>
                <a:solidFill>
                  <a:srgbClr val="D1D1D1">
                    <a:alpha val="54902"/>
                  </a:srgbClr>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Node 2</a:t>
                  </a:r>
                </a:p>
              </p:txBody>
            </p:sp>
            <p:cxnSp>
              <p:nvCxnSpPr>
                <p:cNvPr id="463" name="Straight Arrow Connector 462">
                  <a:extLst>
                    <a:ext uri="{FF2B5EF4-FFF2-40B4-BE49-F238E27FC236}">
                      <a16:creationId xmlns:a16="http://schemas.microsoft.com/office/drawing/2014/main" id="{946D8FDC-8941-13F3-E062-6FDB7A62C3DE}"/>
                    </a:ext>
                  </a:extLst>
                </p:cNvPr>
                <p:cNvCxnSpPr>
                  <a:cxnSpLocks/>
                  <a:stCxn id="460" idx="4"/>
                  <a:endCxn id="498" idx="7"/>
                </p:cNvCxnSpPr>
                <p:nvPr/>
              </p:nvCxnSpPr>
              <p:spPr>
                <a:xfrm flipH="1">
                  <a:off x="4258515" y="20065425"/>
                  <a:ext cx="1231747" cy="1260137"/>
                </a:xfrm>
                <a:prstGeom prst="straightConnector1">
                  <a:avLst/>
                </a:prstGeom>
                <a:ln w="444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91" name="Straight Arrow Connector 490">
                  <a:extLst>
                    <a:ext uri="{FF2B5EF4-FFF2-40B4-BE49-F238E27FC236}">
                      <a16:creationId xmlns:a16="http://schemas.microsoft.com/office/drawing/2014/main" id="{DC056D0B-9E77-F208-CDE2-8226373A2F8D}"/>
                    </a:ext>
                  </a:extLst>
                </p:cNvPr>
                <p:cNvCxnSpPr>
                  <a:cxnSpLocks/>
                  <a:stCxn id="498" idx="1"/>
                  <a:endCxn id="497" idx="4"/>
                </p:cNvCxnSpPr>
                <p:nvPr/>
              </p:nvCxnSpPr>
              <p:spPr>
                <a:xfrm flipH="1" flipV="1">
                  <a:off x="1811259" y="20065425"/>
                  <a:ext cx="1233064" cy="1260137"/>
                </a:xfrm>
                <a:prstGeom prst="straightConnector1">
                  <a:avLst/>
                </a:prstGeom>
                <a:ln w="444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93" name="Straight Arrow Connector 492">
                  <a:extLst>
                    <a:ext uri="{FF2B5EF4-FFF2-40B4-BE49-F238E27FC236}">
                      <a16:creationId xmlns:a16="http://schemas.microsoft.com/office/drawing/2014/main" id="{FE40CFC3-10F1-6753-6B2E-94A282BBF54A}"/>
                    </a:ext>
                  </a:extLst>
                </p:cNvPr>
                <p:cNvCxnSpPr>
                  <a:cxnSpLocks/>
                  <a:stCxn id="497" idx="6"/>
                  <a:endCxn id="460" idx="2"/>
                </p:cNvCxnSpPr>
                <p:nvPr/>
              </p:nvCxnSpPr>
              <p:spPr>
                <a:xfrm>
                  <a:off x="2669823" y="19195697"/>
                  <a:ext cx="1961875" cy="0"/>
                </a:xfrm>
                <a:prstGeom prst="straightConnector1">
                  <a:avLst/>
                </a:prstGeom>
                <a:ln w="444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97" name="Oval 496">
                  <a:extLst>
                    <a:ext uri="{FF2B5EF4-FFF2-40B4-BE49-F238E27FC236}">
                      <a16:creationId xmlns:a16="http://schemas.microsoft.com/office/drawing/2014/main" id="{7B8E4193-8B5D-7FC3-6FE3-94F6132296BA}"/>
                    </a:ext>
                  </a:extLst>
                </p:cNvPr>
                <p:cNvSpPr/>
                <p:nvPr/>
              </p:nvSpPr>
              <p:spPr>
                <a:xfrm>
                  <a:off x="952695" y="18325969"/>
                  <a:ext cx="1717128" cy="1739456"/>
                </a:xfrm>
                <a:prstGeom prst="ellipse">
                  <a:avLst/>
                </a:prstGeom>
                <a:solidFill>
                  <a:schemeClr val="bg2">
                    <a:lumMod val="90000"/>
                    <a:alpha val="55000"/>
                  </a:schemeClr>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Node 1</a:t>
                  </a:r>
                </a:p>
              </p:txBody>
            </p:sp>
            <p:sp>
              <p:nvSpPr>
                <p:cNvPr id="498" name="Oval 497">
                  <a:extLst>
                    <a:ext uri="{FF2B5EF4-FFF2-40B4-BE49-F238E27FC236}">
                      <a16:creationId xmlns:a16="http://schemas.microsoft.com/office/drawing/2014/main" id="{2294E9BC-9667-D080-C9D0-870109B61556}"/>
                    </a:ext>
                  </a:extLst>
                </p:cNvPr>
                <p:cNvSpPr/>
                <p:nvPr/>
              </p:nvSpPr>
              <p:spPr>
                <a:xfrm>
                  <a:off x="2792855" y="21070825"/>
                  <a:ext cx="1717128" cy="1739456"/>
                </a:xfrm>
                <a:prstGeom prst="ellipse">
                  <a:avLst/>
                </a:prstGeom>
                <a:solidFill>
                  <a:schemeClr val="bg2">
                    <a:lumMod val="90000"/>
                    <a:alpha val="55000"/>
                  </a:schemeClr>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Node 3</a:t>
                  </a:r>
                </a:p>
              </p:txBody>
            </p:sp>
            <mc:AlternateContent xmlns:mc="http://schemas.openxmlformats.org/markup-compatibility/2006" xmlns:a14="http://schemas.microsoft.com/office/drawing/2010/main">
              <mc:Choice Requires="a14">
                <p:sp>
                  <p:nvSpPr>
                    <p:cNvPr id="508" name="TextBox 507">
                      <a:extLst>
                        <a:ext uri="{FF2B5EF4-FFF2-40B4-BE49-F238E27FC236}">
                          <a16:creationId xmlns:a16="http://schemas.microsoft.com/office/drawing/2014/main" id="{145F4444-6167-BDE2-A517-6EAAD70F8576}"/>
                        </a:ext>
                      </a:extLst>
                    </p:cNvPr>
                    <p:cNvSpPr txBox="1"/>
                    <p:nvPr/>
                  </p:nvSpPr>
                  <p:spPr>
                    <a:xfrm flipH="1">
                      <a:off x="1520557" y="20111624"/>
                      <a:ext cx="4169795" cy="5203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𝑓𝑙𝑜𝑤</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𝑛𝑜𝑑𝑒𝑠</m:t>
                                </m:r>
                              </m:den>
                            </m:f>
                          </m:oMath>
                        </m:oMathPara>
                      </a14:m>
                      <a:endParaRPr lang="en-US" dirty="0"/>
                    </a:p>
                  </p:txBody>
                </p:sp>
              </mc:Choice>
              <mc:Fallback xmlns="">
                <p:sp>
                  <p:nvSpPr>
                    <p:cNvPr id="508" name="TextBox 507">
                      <a:extLst>
                        <a:ext uri="{FF2B5EF4-FFF2-40B4-BE49-F238E27FC236}">
                          <a16:creationId xmlns:a16="http://schemas.microsoft.com/office/drawing/2014/main" id="{145F4444-6167-BDE2-A517-6EAAD70F8576}"/>
                        </a:ext>
                      </a:extLst>
                    </p:cNvPr>
                    <p:cNvSpPr txBox="1">
                      <a:spLocks noRot="1" noChangeAspect="1" noMove="1" noResize="1" noEditPoints="1" noAdjustHandles="1" noChangeArrowheads="1" noChangeShapeType="1" noTextEdit="1"/>
                    </p:cNvSpPr>
                    <p:nvPr/>
                  </p:nvSpPr>
                  <p:spPr>
                    <a:xfrm flipH="1">
                      <a:off x="1520557" y="20111624"/>
                      <a:ext cx="4169795" cy="520399"/>
                    </a:xfrm>
                    <a:prstGeom prst="rect">
                      <a:avLst/>
                    </a:prstGeom>
                    <a:blipFill>
                      <a:blip r:embed="rId14"/>
                      <a:stretch>
                        <a:fillRect t="-4762" b="-1428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46" name="TextBox 545">
                    <a:extLst>
                      <a:ext uri="{FF2B5EF4-FFF2-40B4-BE49-F238E27FC236}">
                        <a16:creationId xmlns:a16="http://schemas.microsoft.com/office/drawing/2014/main" id="{21E5CE4E-3E25-5090-543B-57F491E41209}"/>
                      </a:ext>
                    </a:extLst>
                  </p:cNvPr>
                  <p:cNvSpPr txBox="1"/>
                  <p:nvPr/>
                </p:nvSpPr>
                <p:spPr>
                  <a:xfrm>
                    <a:off x="11663155" y="25402658"/>
                    <a:ext cx="2165208" cy="5654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𝐵𝑖𝑛𝑜𝑚𝑖𝑎𝑙</m:t>
                          </m:r>
                          <m:r>
                            <a:rPr lang="en-US" b="0" i="1" smtClean="0">
                              <a:latin typeface="Cambria Math" panose="02040503050406030204" pitchFamily="18" charset="0"/>
                            </a:rPr>
                            <m:t>(</m:t>
                          </m:r>
                          <m:r>
                            <a:rPr lang="en-US" b="0" i="1" smtClean="0">
                              <a:latin typeface="Cambria Math" panose="02040503050406030204" pitchFamily="18" charset="0"/>
                            </a:rPr>
                            <m:t>𝑓𝑙𝑜𝑤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oMath>
                      </m:oMathPara>
                    </a14:m>
                    <a:endParaRPr lang="en-US" dirty="0"/>
                  </a:p>
                </p:txBody>
              </p:sp>
            </mc:Choice>
            <mc:Fallback xmlns="">
              <p:sp>
                <p:nvSpPr>
                  <p:cNvPr id="546" name="TextBox 545">
                    <a:extLst>
                      <a:ext uri="{FF2B5EF4-FFF2-40B4-BE49-F238E27FC236}">
                        <a16:creationId xmlns:a16="http://schemas.microsoft.com/office/drawing/2014/main" id="{21E5CE4E-3E25-5090-543B-57F491E41209}"/>
                      </a:ext>
                    </a:extLst>
                  </p:cNvPr>
                  <p:cNvSpPr txBox="1">
                    <a:spLocks noRot="1" noChangeAspect="1" noMove="1" noResize="1" noEditPoints="1" noAdjustHandles="1" noChangeArrowheads="1" noChangeShapeType="1" noTextEdit="1"/>
                  </p:cNvSpPr>
                  <p:nvPr/>
                </p:nvSpPr>
                <p:spPr>
                  <a:xfrm>
                    <a:off x="11663155" y="25402658"/>
                    <a:ext cx="2165208" cy="565411"/>
                  </a:xfrm>
                  <a:prstGeom prst="rect">
                    <a:avLst/>
                  </a:prstGeom>
                  <a:blipFill>
                    <a:blip r:embed="rId15"/>
                    <a:stretch>
                      <a:fillRect l="-1744" t="-2174" r="-2326" b="-8696"/>
                    </a:stretch>
                  </a:blipFill>
                </p:spPr>
                <p:txBody>
                  <a:bodyPr/>
                  <a:lstStyle/>
                  <a:p>
                    <a:r>
                      <a:rPr lang="en-US">
                        <a:noFill/>
                      </a:rPr>
                      <a:t> </a:t>
                    </a:r>
                  </a:p>
                </p:txBody>
              </p:sp>
            </mc:Fallback>
          </mc:AlternateContent>
        </p:grpSp>
        <p:sp>
          <p:nvSpPr>
            <p:cNvPr id="574" name="TextBox 573">
              <a:extLst>
                <a:ext uri="{FF2B5EF4-FFF2-40B4-BE49-F238E27FC236}">
                  <a16:creationId xmlns:a16="http://schemas.microsoft.com/office/drawing/2014/main" id="{CF0690ED-2D2B-D8D3-88A4-72AA70C0E297}"/>
                </a:ext>
              </a:extLst>
            </p:cNvPr>
            <p:cNvSpPr txBox="1"/>
            <p:nvPr/>
          </p:nvSpPr>
          <p:spPr>
            <a:xfrm>
              <a:off x="933647" y="25893490"/>
              <a:ext cx="12978468" cy="1569660"/>
            </a:xfrm>
            <a:prstGeom prst="rect">
              <a:avLst/>
            </a:prstGeom>
            <a:noFill/>
          </p:spPr>
          <p:txBody>
            <a:bodyPr wrap="square" rtlCol="0">
              <a:spAutoFit/>
            </a:bodyPr>
            <a:lstStyle/>
            <a:p>
              <a:r>
                <a:rPr lang="en-US" sz="2400" b="1" dirty="0"/>
                <a:t>Figure 1 </a:t>
              </a:r>
              <a:r>
                <a:rPr lang="en-US" sz="2400" dirty="0"/>
                <a:t>Inside each node a SEIR(S) or SEATIRD compartmental model simulates disease spread. Each compartment is subdivided into 5 age and 2 risk groups (10 groups). In the SEIRS model immunity wanes and Recovered return to Susceptible. Infections to other nodes are drawn from the binomial distribution based on the current infectious and flow rate between nodes.</a:t>
              </a:r>
            </a:p>
          </p:txBody>
        </p:sp>
      </p:grpSp>
      <mc:AlternateContent xmlns:mc="http://schemas.openxmlformats.org/markup-compatibility/2006">
        <mc:Choice xmlns:a14="http://schemas.microsoft.com/office/drawing/2010/main" Requires="a14">
          <p:sp>
            <p:nvSpPr>
              <p:cNvPr id="575" name="Google Shape;481;p19">
                <a:extLst>
                  <a:ext uri="{FF2B5EF4-FFF2-40B4-BE49-F238E27FC236}">
                    <a16:creationId xmlns:a16="http://schemas.microsoft.com/office/drawing/2014/main" id="{5D41511B-5417-234A-5CCE-B1BDF476BC2C}"/>
                  </a:ext>
                </a:extLst>
              </p:cNvPr>
              <p:cNvSpPr txBox="1"/>
              <p:nvPr/>
            </p:nvSpPr>
            <p:spPr>
              <a:xfrm>
                <a:off x="902805" y="27885751"/>
                <a:ext cx="12851296" cy="3696483"/>
              </a:xfrm>
              <a:prstGeom prst="rect">
                <a:avLst/>
              </a:prstGeom>
              <a:noFill/>
              <a:ln>
                <a:noFill/>
              </a:ln>
            </p:spPr>
            <p:txBody>
              <a:bodyPr spcFirstLastPara="1" wrap="square" lIns="58773" tIns="29380" rIns="58773" bIns="29380" anchor="t" anchorCtr="0">
                <a:spAutoFit/>
              </a:bodyPr>
              <a:lstStyle/>
              <a:p>
                <a:pPr>
                  <a:buClr>
                    <a:srgbClr val="000000"/>
                  </a:buClr>
                  <a:buSzPts val="3200"/>
                </a:pPr>
                <a:r>
                  <a:rPr lang="en-US" sz="2800" b="1" dirty="0">
                    <a:solidFill>
                      <a:schemeClr val="dk1"/>
                    </a:solidFill>
                    <a:latin typeface="Arial"/>
                    <a:ea typeface="Arial"/>
                    <a:cs typeface="Arial"/>
                    <a:sym typeface="Arial"/>
                  </a:rPr>
                  <a:t>Predicting simulations needed</a:t>
                </a:r>
                <a:r>
                  <a:rPr lang="en-US" sz="2800" dirty="0">
                    <a:solidFill>
                      <a:schemeClr val="dk1"/>
                    </a:solidFill>
                    <a:latin typeface="Arial"/>
                    <a:ea typeface="Arial"/>
                    <a:cs typeface="Arial"/>
                    <a:sym typeface="Arial"/>
                  </a:rPr>
                  <a:t>: For all sets of 100 simulations, we estimate run time in minutes (Figure 2), then determined the sample mean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oMath>
                </a14:m>
                <a:r>
                  <a:rPr lang="en-US" sz="2800" dirty="0">
                    <a:solidFill>
                      <a:schemeClr val="dk1"/>
                    </a:solidFill>
                    <a:latin typeface="Arial"/>
                    <a:ea typeface="Arial"/>
                    <a:cs typeface="Arial"/>
                    <a:sym typeface="Arial"/>
                  </a:rPr>
                  <a:t>) and sample standard deviation (</a:t>
                </a:r>
                <a14:m>
                  <m:oMath xmlns:m="http://schemas.openxmlformats.org/officeDocument/2006/math">
                    <m:r>
                      <a:rPr lang="en-US" sz="2800" i="1">
                        <a:latin typeface="Cambria Math" panose="02040503050406030204" pitchFamily="18" charset="0"/>
                      </a:rPr>
                      <m:t>𝑠𝑑</m:t>
                    </m:r>
                  </m:oMath>
                </a14:m>
                <a:r>
                  <a:rPr lang="en-US" sz="2800" dirty="0">
                    <a:solidFill>
                      <a:schemeClr val="dk1"/>
                    </a:solidFill>
                    <a:latin typeface="Arial"/>
                    <a:ea typeface="Arial"/>
                    <a:cs typeface="Arial"/>
                    <a:sym typeface="Arial"/>
                  </a:rPr>
                  <a:t>) for each compartment at the end of the simulation. We estimated the number of simulations needed to achieve 95% confidence-level with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𝑠𝑖𝑚</m:t>
                        </m:r>
                      </m:e>
                      <m:sub>
                        <m:r>
                          <a:rPr lang="en-US" sz="2800" i="1">
                            <a:latin typeface="Cambria Math" panose="02040503050406030204" pitchFamily="18" charset="0"/>
                          </a:rPr>
                          <m:t>𝑒𝑠𝑡</m:t>
                        </m:r>
                      </m:sub>
                    </m:sSub>
                    <m:r>
                      <a:rPr lang="en-US" sz="2800" i="1">
                        <a:latin typeface="Cambria Math" panose="02040503050406030204" pitchFamily="18" charset="0"/>
                      </a:rPr>
                      <m:t>= </m:t>
                    </m:r>
                    <m:f>
                      <m:fPr>
                        <m:ctrlPr>
                          <a:rPr lang="en-US" sz="2800" i="1">
                            <a:latin typeface="Cambria Math" panose="02040503050406030204" pitchFamily="18" charset="0"/>
                          </a:rPr>
                        </m:ctrlPr>
                      </m:fPr>
                      <m:num>
                        <m:r>
                          <a:rPr lang="en-US" sz="2800" i="1">
                            <a:latin typeface="Cambria Math" panose="02040503050406030204" pitchFamily="18" charset="0"/>
                          </a:rPr>
                          <m:t>1.96 ∗</m:t>
                        </m:r>
                        <m:r>
                          <a:rPr lang="en-US" sz="2800" i="1">
                            <a:latin typeface="Cambria Math" panose="02040503050406030204" pitchFamily="18" charset="0"/>
                          </a:rPr>
                          <m:t>𝑠𝑑</m:t>
                        </m:r>
                      </m:num>
                      <m:den>
                        <m:r>
                          <a:rPr lang="en-US" sz="2800" i="1">
                            <a:latin typeface="Cambria Math" panose="02040503050406030204" pitchFamily="18" charset="0"/>
                          </a:rPr>
                          <m:t>0.05 ∗ </m:t>
                        </m:r>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den>
                    </m:f>
                  </m:oMath>
                </a14:m>
                <a:r>
                  <a:rPr lang="en-US" sz="2800" dirty="0">
                    <a:solidFill>
                      <a:schemeClr val="dk1"/>
                    </a:solidFill>
                    <a:latin typeface="Arial"/>
                    <a:ea typeface="Arial"/>
                    <a:cs typeface="Arial"/>
                    <a:sym typeface="Arial"/>
                  </a:rPr>
                  <a:t>. We then compare the SEATIRD model outcomes of interest (infections, recoveries, and deaths) to see if the stochastic model is noisy enough to capture the output of the fixed/deterministic model (Table 1). </a:t>
                </a:r>
                <a:endParaRPr sz="2800" dirty="0">
                  <a:solidFill>
                    <a:schemeClr val="dk1"/>
                  </a:solidFill>
                  <a:latin typeface="Arial"/>
                  <a:ea typeface="Arial"/>
                  <a:cs typeface="Arial"/>
                  <a:sym typeface="Arial"/>
                </a:endParaRPr>
              </a:p>
            </p:txBody>
          </p:sp>
        </mc:Choice>
        <mc:Fallback>
          <p:sp>
            <p:nvSpPr>
              <p:cNvPr id="575" name="Google Shape;481;p19">
                <a:extLst>
                  <a:ext uri="{FF2B5EF4-FFF2-40B4-BE49-F238E27FC236}">
                    <a16:creationId xmlns:a16="http://schemas.microsoft.com/office/drawing/2014/main" id="{5D41511B-5417-234A-5CCE-B1BDF476BC2C}"/>
                  </a:ext>
                </a:extLst>
              </p:cNvPr>
              <p:cNvSpPr txBox="1">
                <a:spLocks noRot="1" noChangeAspect="1" noMove="1" noResize="1" noEditPoints="1" noAdjustHandles="1" noChangeArrowheads="1" noChangeShapeType="1" noTextEdit="1"/>
              </p:cNvSpPr>
              <p:nvPr/>
            </p:nvSpPr>
            <p:spPr>
              <a:xfrm>
                <a:off x="902805" y="27885751"/>
                <a:ext cx="12851296" cy="3696483"/>
              </a:xfrm>
              <a:prstGeom prst="rect">
                <a:avLst/>
              </a:prstGeom>
              <a:blipFill>
                <a:blip r:embed="rId16"/>
                <a:stretch>
                  <a:fillRect l="-1285" t="-2055" b="-4110"/>
                </a:stretch>
              </a:blipFill>
              <a:ln>
                <a:noFill/>
              </a:ln>
            </p:spPr>
            <p:txBody>
              <a:bodyPr/>
              <a:lstStyle/>
              <a:p>
                <a:r>
                  <a:rPr lang="en-US">
                    <a:noFill/>
                  </a:rPr>
                  <a:t> </a:t>
                </a:r>
              </a:p>
            </p:txBody>
          </p:sp>
        </mc:Fallback>
      </mc:AlternateContent>
      <p:grpSp>
        <p:nvGrpSpPr>
          <p:cNvPr id="578" name="Group 577">
            <a:extLst>
              <a:ext uri="{FF2B5EF4-FFF2-40B4-BE49-F238E27FC236}">
                <a16:creationId xmlns:a16="http://schemas.microsoft.com/office/drawing/2014/main" id="{192B3D2D-F8CA-3FCC-686D-3F131A6C816F}"/>
              </a:ext>
            </a:extLst>
          </p:cNvPr>
          <p:cNvGrpSpPr/>
          <p:nvPr/>
        </p:nvGrpSpPr>
        <p:grpSpPr>
          <a:xfrm>
            <a:off x="25024647" y="14072532"/>
            <a:ext cx="7002045" cy="5600878"/>
            <a:chOff x="24690245" y="12701021"/>
            <a:chExt cx="7287121" cy="5462523"/>
          </a:xfrm>
        </p:grpSpPr>
        <p:grpSp>
          <p:nvGrpSpPr>
            <p:cNvPr id="573" name="Group 572">
              <a:extLst>
                <a:ext uri="{FF2B5EF4-FFF2-40B4-BE49-F238E27FC236}">
                  <a16:creationId xmlns:a16="http://schemas.microsoft.com/office/drawing/2014/main" id="{364C63EC-60F6-FDA6-E82A-995BF561DB1C}"/>
                </a:ext>
              </a:extLst>
            </p:cNvPr>
            <p:cNvGrpSpPr/>
            <p:nvPr/>
          </p:nvGrpSpPr>
          <p:grpSpPr>
            <a:xfrm>
              <a:off x="24942380" y="12701021"/>
              <a:ext cx="6104631" cy="3476977"/>
              <a:chOff x="1920980" y="25408070"/>
              <a:chExt cx="8234963" cy="4560286"/>
            </a:xfrm>
          </p:grpSpPr>
          <p:cxnSp>
            <p:nvCxnSpPr>
              <p:cNvPr id="570" name="Straight Arrow Connector 569">
                <a:extLst>
                  <a:ext uri="{FF2B5EF4-FFF2-40B4-BE49-F238E27FC236}">
                    <a16:creationId xmlns:a16="http://schemas.microsoft.com/office/drawing/2014/main" id="{9E250BF2-8D95-8D5D-9ECF-3FEA518814EC}"/>
                  </a:ext>
                </a:extLst>
              </p:cNvPr>
              <p:cNvCxnSpPr>
                <a:cxnSpLocks/>
              </p:cNvCxnSpPr>
              <p:nvPr/>
            </p:nvCxnSpPr>
            <p:spPr>
              <a:xfrm flipH="1">
                <a:off x="8331850" y="28019387"/>
                <a:ext cx="1006179" cy="1036295"/>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grpSp>
            <p:nvGrpSpPr>
              <p:cNvPr id="520" name="Group 519">
                <a:extLst>
                  <a:ext uri="{FF2B5EF4-FFF2-40B4-BE49-F238E27FC236}">
                    <a16:creationId xmlns:a16="http://schemas.microsoft.com/office/drawing/2014/main" id="{1AB543FC-0CE7-6FDB-39BA-2D131D5CADFF}"/>
                  </a:ext>
                </a:extLst>
              </p:cNvPr>
              <p:cNvGrpSpPr/>
              <p:nvPr/>
            </p:nvGrpSpPr>
            <p:grpSpPr>
              <a:xfrm>
                <a:off x="1920980" y="25408070"/>
                <a:ext cx="8234963" cy="4560286"/>
                <a:chOff x="933650" y="27446235"/>
                <a:chExt cx="8234963" cy="4560286"/>
              </a:xfrm>
            </p:grpSpPr>
            <p:cxnSp>
              <p:nvCxnSpPr>
                <p:cNvPr id="16" name="Straight Arrow Connector 15">
                  <a:extLst>
                    <a:ext uri="{FF2B5EF4-FFF2-40B4-BE49-F238E27FC236}">
                      <a16:creationId xmlns:a16="http://schemas.microsoft.com/office/drawing/2014/main" id="{E0FDDB58-770C-54F4-D558-142643A4308D}"/>
                    </a:ext>
                  </a:extLst>
                </p:cNvPr>
                <p:cNvCxnSpPr>
                  <a:cxnSpLocks/>
                </p:cNvCxnSpPr>
                <p:nvPr/>
              </p:nvCxnSpPr>
              <p:spPr>
                <a:xfrm flipV="1">
                  <a:off x="1795007" y="29651457"/>
                  <a:ext cx="962736" cy="1"/>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16A6A7C-D234-4A8B-84CB-00030AEE9B58}"/>
                    </a:ext>
                  </a:extLst>
                </p:cNvPr>
                <p:cNvCxnSpPr>
                  <a:cxnSpLocks/>
                </p:cNvCxnSpPr>
                <p:nvPr/>
              </p:nvCxnSpPr>
              <p:spPr>
                <a:xfrm flipH="1" flipV="1">
                  <a:off x="7316726" y="28348971"/>
                  <a:ext cx="1033973" cy="1040344"/>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76ECDB4-6916-8DD2-6919-E022E8E4A049}"/>
                    </a:ext>
                  </a:extLst>
                </p:cNvPr>
                <p:cNvCxnSpPr>
                  <a:cxnSpLocks/>
                </p:cNvCxnSpPr>
                <p:nvPr/>
              </p:nvCxnSpPr>
              <p:spPr>
                <a:xfrm>
                  <a:off x="5347296" y="30057552"/>
                  <a:ext cx="1074278" cy="1036295"/>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D52DB01-FFEC-08FE-047E-DB353E641EB4}"/>
                    </a:ext>
                  </a:extLst>
                </p:cNvPr>
                <p:cNvCxnSpPr>
                  <a:cxnSpLocks/>
                </p:cNvCxnSpPr>
                <p:nvPr/>
              </p:nvCxnSpPr>
              <p:spPr>
                <a:xfrm flipV="1">
                  <a:off x="5347296" y="28329207"/>
                  <a:ext cx="1074278" cy="1042894"/>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DBABE224-92D4-A87E-A4AF-5B5801C70517}"/>
                    </a:ext>
                  </a:extLst>
                </p:cNvPr>
                <p:cNvSpPr/>
                <p:nvPr/>
              </p:nvSpPr>
              <p:spPr>
                <a:xfrm>
                  <a:off x="933650" y="29263458"/>
                  <a:ext cx="895150" cy="902736"/>
                </a:xfrm>
                <a:prstGeom prst="rect">
                  <a:avLst/>
                </a:prstGeom>
                <a:solidFill>
                  <a:srgbClr val="565F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S</a:t>
                  </a:r>
                </a:p>
              </p:txBody>
            </p:sp>
            <p:sp>
              <p:nvSpPr>
                <p:cNvPr id="9" name="Rectangle 8">
                  <a:extLst>
                    <a:ext uri="{FF2B5EF4-FFF2-40B4-BE49-F238E27FC236}">
                      <a16:creationId xmlns:a16="http://schemas.microsoft.com/office/drawing/2014/main" id="{93568484-5A0A-F6E5-AA94-F0166977508A}"/>
                    </a:ext>
                  </a:extLst>
                </p:cNvPr>
                <p:cNvSpPr/>
                <p:nvPr/>
              </p:nvSpPr>
              <p:spPr>
                <a:xfrm>
                  <a:off x="2757743" y="29263458"/>
                  <a:ext cx="895151" cy="902736"/>
                </a:xfrm>
                <a:prstGeom prst="rect">
                  <a:avLst/>
                </a:prstGeom>
                <a:solidFill>
                  <a:srgbClr val="2E828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E</a:t>
                  </a:r>
                </a:p>
              </p:txBody>
            </p:sp>
            <p:sp>
              <p:nvSpPr>
                <p:cNvPr id="10" name="Rectangle 9">
                  <a:extLst>
                    <a:ext uri="{FF2B5EF4-FFF2-40B4-BE49-F238E27FC236}">
                      <a16:creationId xmlns:a16="http://schemas.microsoft.com/office/drawing/2014/main" id="{7581BFA4-B12A-35EF-17D1-1B5048640869}"/>
                    </a:ext>
                  </a:extLst>
                </p:cNvPr>
                <p:cNvSpPr/>
                <p:nvPr/>
              </p:nvSpPr>
              <p:spPr>
                <a:xfrm>
                  <a:off x="4595111" y="29263458"/>
                  <a:ext cx="895151" cy="902736"/>
                </a:xfrm>
                <a:prstGeom prst="rect">
                  <a:avLst/>
                </a:prstGeom>
                <a:solidFill>
                  <a:srgbClr val="EAAE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A</a:t>
                  </a:r>
                </a:p>
              </p:txBody>
            </p:sp>
            <p:sp>
              <p:nvSpPr>
                <p:cNvPr id="11" name="Rectangle 10">
                  <a:extLst>
                    <a:ext uri="{FF2B5EF4-FFF2-40B4-BE49-F238E27FC236}">
                      <a16:creationId xmlns:a16="http://schemas.microsoft.com/office/drawing/2014/main" id="{2BA51BA6-34D1-C411-9BA3-9D9E913CE39B}"/>
                    </a:ext>
                  </a:extLst>
                </p:cNvPr>
                <p:cNvSpPr/>
                <p:nvPr/>
              </p:nvSpPr>
              <p:spPr>
                <a:xfrm>
                  <a:off x="6421573" y="29275010"/>
                  <a:ext cx="895152" cy="902736"/>
                </a:xfrm>
                <a:prstGeom prst="rect">
                  <a:avLst/>
                </a:prstGeom>
                <a:solidFill>
                  <a:srgbClr val="EAAE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T</a:t>
                  </a:r>
                </a:p>
              </p:txBody>
            </p:sp>
            <p:sp>
              <p:nvSpPr>
                <p:cNvPr id="12" name="Rectangle 11">
                  <a:extLst>
                    <a:ext uri="{FF2B5EF4-FFF2-40B4-BE49-F238E27FC236}">
                      <a16:creationId xmlns:a16="http://schemas.microsoft.com/office/drawing/2014/main" id="{17280535-3D51-E13F-3FCE-F0DB13297BA5}"/>
                    </a:ext>
                  </a:extLst>
                </p:cNvPr>
                <p:cNvSpPr/>
                <p:nvPr/>
              </p:nvSpPr>
              <p:spPr>
                <a:xfrm>
                  <a:off x="8273462" y="29275010"/>
                  <a:ext cx="895151" cy="902736"/>
                </a:xfrm>
                <a:prstGeom prst="rect">
                  <a:avLst/>
                </a:prstGeom>
                <a:solidFill>
                  <a:srgbClr val="EAAE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I</a:t>
                  </a:r>
                </a:p>
              </p:txBody>
            </p:sp>
            <p:sp>
              <p:nvSpPr>
                <p:cNvPr id="13" name="Rectangle 12">
                  <a:extLst>
                    <a:ext uri="{FF2B5EF4-FFF2-40B4-BE49-F238E27FC236}">
                      <a16:creationId xmlns:a16="http://schemas.microsoft.com/office/drawing/2014/main" id="{45A83056-9E02-653F-7CAF-F4A8E20BA3BE}"/>
                    </a:ext>
                  </a:extLst>
                </p:cNvPr>
                <p:cNvSpPr/>
                <p:nvPr/>
              </p:nvSpPr>
              <p:spPr>
                <a:xfrm>
                  <a:off x="6421574" y="27446235"/>
                  <a:ext cx="895152" cy="902736"/>
                </a:xfrm>
                <a:prstGeom prst="rect">
                  <a:avLst/>
                </a:prstGeom>
                <a:solidFill>
                  <a:srgbClr val="B1460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R</a:t>
                  </a:r>
                </a:p>
              </p:txBody>
            </p:sp>
            <p:sp>
              <p:nvSpPr>
                <p:cNvPr id="14" name="Rectangle 13">
                  <a:extLst>
                    <a:ext uri="{FF2B5EF4-FFF2-40B4-BE49-F238E27FC236}">
                      <a16:creationId xmlns:a16="http://schemas.microsoft.com/office/drawing/2014/main" id="{99365907-C171-F58A-2955-46CC9B8B5D4C}"/>
                    </a:ext>
                  </a:extLst>
                </p:cNvPr>
                <p:cNvSpPr/>
                <p:nvPr/>
              </p:nvSpPr>
              <p:spPr>
                <a:xfrm>
                  <a:off x="6421573" y="31103785"/>
                  <a:ext cx="895152" cy="902736"/>
                </a:xfrm>
                <a:prstGeom prst="rect">
                  <a:avLst/>
                </a:prstGeom>
                <a:solidFill>
                  <a:srgbClr val="B1460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D</a:t>
                  </a:r>
                </a:p>
              </p:txBody>
            </p:sp>
            <p:cxnSp>
              <p:nvCxnSpPr>
                <p:cNvPr id="17" name="Straight Arrow Connector 16">
                  <a:extLst>
                    <a:ext uri="{FF2B5EF4-FFF2-40B4-BE49-F238E27FC236}">
                      <a16:creationId xmlns:a16="http://schemas.microsoft.com/office/drawing/2014/main" id="{6DB6BFEF-3C8C-C111-4ECD-770E95662F9C}"/>
                    </a:ext>
                  </a:extLst>
                </p:cNvPr>
                <p:cNvCxnSpPr>
                  <a:cxnSpLocks/>
                  <a:stCxn id="9" idx="3"/>
                  <a:endCxn id="10" idx="1"/>
                </p:cNvCxnSpPr>
                <p:nvPr/>
              </p:nvCxnSpPr>
              <p:spPr>
                <a:xfrm>
                  <a:off x="3652894" y="29714826"/>
                  <a:ext cx="942217" cy="0"/>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B17B9EA-FE3A-AAD2-1026-486651E82B1F}"/>
                    </a:ext>
                  </a:extLst>
                </p:cNvPr>
                <p:cNvCxnSpPr>
                  <a:cxnSpLocks/>
                </p:cNvCxnSpPr>
                <p:nvPr/>
              </p:nvCxnSpPr>
              <p:spPr>
                <a:xfrm>
                  <a:off x="5490262" y="29714826"/>
                  <a:ext cx="942217" cy="0"/>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6E771BA-558B-786B-10B7-17445CEE8229}"/>
                    </a:ext>
                  </a:extLst>
                </p:cNvPr>
                <p:cNvCxnSpPr>
                  <a:cxnSpLocks/>
                  <a:stCxn id="11" idx="3"/>
                  <a:endCxn id="12" idx="1"/>
                </p:cNvCxnSpPr>
                <p:nvPr/>
              </p:nvCxnSpPr>
              <p:spPr>
                <a:xfrm>
                  <a:off x="7316725" y="29726378"/>
                  <a:ext cx="956737" cy="0"/>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B4A09B2-0B3C-D08D-B130-41805F9D43E4}"/>
                    </a:ext>
                  </a:extLst>
                </p:cNvPr>
                <p:cNvCxnSpPr>
                  <a:cxnSpLocks/>
                  <a:stCxn id="11" idx="0"/>
                  <a:endCxn id="13" idx="2"/>
                </p:cNvCxnSpPr>
                <p:nvPr/>
              </p:nvCxnSpPr>
              <p:spPr>
                <a:xfrm flipV="1">
                  <a:off x="6869149" y="28348971"/>
                  <a:ext cx="1" cy="926039"/>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CD6171A-39C0-55FF-9D69-AB000C3663FA}"/>
                    </a:ext>
                  </a:extLst>
                </p:cNvPr>
                <p:cNvCxnSpPr>
                  <a:cxnSpLocks/>
                  <a:stCxn id="11" idx="2"/>
                  <a:endCxn id="14" idx="0"/>
                </p:cNvCxnSpPr>
                <p:nvPr/>
              </p:nvCxnSpPr>
              <p:spPr>
                <a:xfrm>
                  <a:off x="6869149" y="30177746"/>
                  <a:ext cx="0" cy="926039"/>
                </a:xfrm>
                <a:prstGeom prst="straightConnector1">
                  <a:avLst/>
                </a:prstGeom>
                <a:ln w="63500">
                  <a:solidFill>
                    <a:schemeClr val="tx1"/>
                  </a:solidFill>
                  <a:headEnd w="lg" len="lg"/>
                  <a:tailEnd type="arrow" w="lg" len="sm"/>
                </a:ln>
              </p:spPr>
              <p:style>
                <a:lnRef idx="2">
                  <a:schemeClr val="accent1"/>
                </a:lnRef>
                <a:fillRef idx="0">
                  <a:schemeClr val="accent1"/>
                </a:fillRef>
                <a:effectRef idx="1">
                  <a:schemeClr val="accent1"/>
                </a:effectRef>
                <a:fontRef idx="minor">
                  <a:schemeClr val="tx1"/>
                </a:fontRef>
              </p:style>
            </p:cxnSp>
          </p:grpSp>
        </p:grpSp>
        <p:sp>
          <p:nvSpPr>
            <p:cNvPr id="577" name="TextBox 576">
              <a:extLst>
                <a:ext uri="{FF2B5EF4-FFF2-40B4-BE49-F238E27FC236}">
                  <a16:creationId xmlns:a16="http://schemas.microsoft.com/office/drawing/2014/main" id="{C643050D-616E-F41F-A40B-6E2F835D90D9}"/>
                </a:ext>
              </a:extLst>
            </p:cNvPr>
            <p:cNvSpPr txBox="1"/>
            <p:nvPr/>
          </p:nvSpPr>
          <p:spPr>
            <a:xfrm>
              <a:off x="24690245" y="16272450"/>
              <a:ext cx="7287121" cy="1891094"/>
            </a:xfrm>
            <a:prstGeom prst="rect">
              <a:avLst/>
            </a:prstGeom>
            <a:noFill/>
          </p:spPr>
          <p:txBody>
            <a:bodyPr wrap="square" rtlCol="0">
              <a:spAutoFit/>
            </a:bodyPr>
            <a:lstStyle/>
            <a:p>
              <a:r>
                <a:rPr lang="en-US" sz="2400" b="1" dirty="0"/>
                <a:t>Figure 3</a:t>
              </a:r>
              <a:r>
                <a:rPr lang="en-US" sz="2400" dirty="0"/>
                <a:t> The SEATIRD model has multiple terminal compartments (burnt orange) that every infectious (yellow) compartment can transition to equally. Random model draws every rate (black arrow) from an exponential distribution . </a:t>
              </a:r>
            </a:p>
          </p:txBody>
        </p:sp>
      </p:grpSp>
      <p:grpSp>
        <p:nvGrpSpPr>
          <p:cNvPr id="600" name="Group 599">
            <a:extLst>
              <a:ext uri="{FF2B5EF4-FFF2-40B4-BE49-F238E27FC236}">
                <a16:creationId xmlns:a16="http://schemas.microsoft.com/office/drawing/2014/main" id="{D720FE4E-60E3-357D-EF69-D36EA3698E59}"/>
              </a:ext>
            </a:extLst>
          </p:cNvPr>
          <p:cNvGrpSpPr/>
          <p:nvPr/>
        </p:nvGrpSpPr>
        <p:grpSpPr>
          <a:xfrm>
            <a:off x="24816529" y="20012396"/>
            <a:ext cx="7188511" cy="11361207"/>
            <a:chOff x="25066167" y="20161966"/>
            <a:chExt cx="7188511" cy="11361207"/>
          </a:xfrm>
        </p:grpSpPr>
        <p:grpSp>
          <p:nvGrpSpPr>
            <p:cNvPr id="594" name="Group 593">
              <a:extLst>
                <a:ext uri="{FF2B5EF4-FFF2-40B4-BE49-F238E27FC236}">
                  <a16:creationId xmlns:a16="http://schemas.microsoft.com/office/drawing/2014/main" id="{E1D1AB47-C6B2-2C33-BA62-D4888DF1E84E}"/>
                </a:ext>
              </a:extLst>
            </p:cNvPr>
            <p:cNvGrpSpPr/>
            <p:nvPr/>
          </p:nvGrpSpPr>
          <p:grpSpPr>
            <a:xfrm>
              <a:off x="25066167" y="20161966"/>
              <a:ext cx="7188511" cy="11361207"/>
              <a:chOff x="25207043" y="20735251"/>
              <a:chExt cx="7188511" cy="11361207"/>
            </a:xfrm>
          </p:grpSpPr>
          <p:pic>
            <p:nvPicPr>
              <p:cNvPr id="541" name="Picture 540" descr="A graph of a network&#10;&#10;AI-generated content may be incorrect.">
                <a:extLst>
                  <a:ext uri="{FF2B5EF4-FFF2-40B4-BE49-F238E27FC236}">
                    <a16:creationId xmlns:a16="http://schemas.microsoft.com/office/drawing/2014/main" id="{2D264C7C-2B7F-622F-6017-F598331A5CD7}"/>
                  </a:ext>
                </a:extLst>
              </p:cNvPr>
              <p:cNvPicPr>
                <a:picLocks noChangeAspect="1"/>
              </p:cNvPicPr>
              <p:nvPr/>
            </p:nvPicPr>
            <p:blipFill>
              <a:blip r:embed="rId17"/>
              <a:srcRect t="7350" b="14069"/>
              <a:stretch>
                <a:fillRect/>
              </a:stretch>
            </p:blipFill>
            <p:spPr>
              <a:xfrm>
                <a:off x="25207043" y="20735251"/>
                <a:ext cx="6805118" cy="4189170"/>
              </a:xfrm>
              <a:prstGeom prst="rect">
                <a:avLst/>
              </a:prstGeom>
            </p:spPr>
          </p:pic>
          <p:sp>
            <p:nvSpPr>
              <p:cNvPr id="543" name="TextBox 542">
                <a:extLst>
                  <a:ext uri="{FF2B5EF4-FFF2-40B4-BE49-F238E27FC236}">
                    <a16:creationId xmlns:a16="http://schemas.microsoft.com/office/drawing/2014/main" id="{582CBC44-88FD-C20E-B1CD-BCF6513E1132}"/>
                  </a:ext>
                </a:extLst>
              </p:cNvPr>
              <p:cNvSpPr txBox="1"/>
              <p:nvPr/>
            </p:nvSpPr>
            <p:spPr>
              <a:xfrm>
                <a:off x="25266920" y="29788134"/>
                <a:ext cx="7002484" cy="2308324"/>
              </a:xfrm>
              <a:prstGeom prst="rect">
                <a:avLst/>
              </a:prstGeom>
              <a:noFill/>
            </p:spPr>
            <p:txBody>
              <a:bodyPr wrap="square" rtlCol="0">
                <a:spAutoFit/>
              </a:bodyPr>
              <a:lstStyle/>
              <a:p>
                <a:r>
                  <a:rPr lang="en-US" sz="2400" b="1" dirty="0"/>
                  <a:t>Figure 4</a:t>
                </a:r>
                <a:r>
                  <a:rPr lang="en-US" sz="2400" dirty="0"/>
                  <a:t> 100 simulations from each model of 100 node network, R0=1.1 (top) and 4.1 (bottom) for 1M people. The susceptible (S) and exposed time series are closely aligned, but the stochastic model fails to capture the recovered (R) and deceased (D) deterministic final values.</a:t>
                </a:r>
              </a:p>
            </p:txBody>
          </p:sp>
          <p:pic>
            <p:nvPicPr>
              <p:cNvPr id="584" name="Picture 583" descr="A graph of different types of data&#10;&#10;AI-generated content may be incorrect.">
                <a:extLst>
                  <a:ext uri="{FF2B5EF4-FFF2-40B4-BE49-F238E27FC236}">
                    <a16:creationId xmlns:a16="http://schemas.microsoft.com/office/drawing/2014/main" id="{3B12C18D-A5FD-6C3E-3758-0A77BD32BA8D}"/>
                  </a:ext>
                </a:extLst>
              </p:cNvPr>
              <p:cNvPicPr>
                <a:picLocks noChangeAspect="1"/>
              </p:cNvPicPr>
              <p:nvPr/>
            </p:nvPicPr>
            <p:blipFill>
              <a:blip r:embed="rId18"/>
              <a:srcRect t="8254" r="-4831" b="14635"/>
              <a:stretch>
                <a:fillRect/>
              </a:stretch>
            </p:blipFill>
            <p:spPr>
              <a:xfrm>
                <a:off x="25266919" y="25188670"/>
                <a:ext cx="7128635" cy="4194951"/>
              </a:xfrm>
              <a:prstGeom prst="rect">
                <a:avLst/>
              </a:prstGeom>
            </p:spPr>
          </p:pic>
        </p:grpSp>
        <p:pic>
          <p:nvPicPr>
            <p:cNvPr id="592" name="Picture 591" descr="A graph of different types of data&#10;&#10;AI-generated content may be incorrect.">
              <a:extLst>
                <a:ext uri="{FF2B5EF4-FFF2-40B4-BE49-F238E27FC236}">
                  <a16:creationId xmlns:a16="http://schemas.microsoft.com/office/drawing/2014/main" id="{2F48814A-A3F5-B2A5-C119-016B77448293}"/>
                </a:ext>
              </a:extLst>
            </p:cNvPr>
            <p:cNvPicPr>
              <a:picLocks noChangeAspect="1"/>
            </p:cNvPicPr>
            <p:nvPr/>
          </p:nvPicPr>
          <p:blipFill>
            <a:blip r:embed="rId18"/>
            <a:srcRect l="25747" t="87854" r="6953" b="798"/>
            <a:stretch>
              <a:fillRect/>
            </a:stretch>
          </p:blipFill>
          <p:spPr>
            <a:xfrm>
              <a:off x="25659923" y="28481242"/>
              <a:ext cx="5686154" cy="767088"/>
            </a:xfrm>
            <a:prstGeom prst="rect">
              <a:avLst/>
            </a:prstGeom>
          </p:spPr>
        </p:pic>
      </p:grpSp>
      <p:grpSp>
        <p:nvGrpSpPr>
          <p:cNvPr id="599" name="Group 598">
            <a:extLst>
              <a:ext uri="{FF2B5EF4-FFF2-40B4-BE49-F238E27FC236}">
                <a16:creationId xmlns:a16="http://schemas.microsoft.com/office/drawing/2014/main" id="{5E436EC1-5E62-5E93-0B61-8131B6AF64F7}"/>
              </a:ext>
            </a:extLst>
          </p:cNvPr>
          <p:cNvGrpSpPr/>
          <p:nvPr/>
        </p:nvGrpSpPr>
        <p:grpSpPr>
          <a:xfrm>
            <a:off x="14697421" y="17723660"/>
            <a:ext cx="9541920" cy="12839747"/>
            <a:chOff x="14678749" y="16616736"/>
            <a:chExt cx="9541920" cy="12839747"/>
          </a:xfrm>
        </p:grpSpPr>
        <mc:AlternateContent xmlns:mc="http://schemas.openxmlformats.org/markup-compatibility/2006" xmlns:a14="http://schemas.microsoft.com/office/drawing/2010/main">
          <mc:Choice Requires="a14">
            <p:sp>
              <p:nvSpPr>
                <p:cNvPr id="589" name="TextBox 588">
                  <a:extLst>
                    <a:ext uri="{FF2B5EF4-FFF2-40B4-BE49-F238E27FC236}">
                      <a16:creationId xmlns:a16="http://schemas.microsoft.com/office/drawing/2014/main" id="{0E2B2458-7E1D-2E47-3DEF-B81F0551F302}"/>
                    </a:ext>
                  </a:extLst>
                </p:cNvPr>
                <p:cNvSpPr txBox="1"/>
                <p:nvPr/>
              </p:nvSpPr>
              <p:spPr>
                <a:xfrm>
                  <a:off x="14678749" y="26778827"/>
                  <a:ext cx="9541920" cy="2677656"/>
                </a:xfrm>
                <a:prstGeom prst="rect">
                  <a:avLst/>
                </a:prstGeom>
                <a:noFill/>
              </p:spPr>
              <p:txBody>
                <a:bodyPr wrap="square" rtlCol="0">
                  <a:spAutoFit/>
                </a:bodyPr>
                <a:lstStyle/>
                <a:p>
                  <a:r>
                    <a:rPr lang="en-US" sz="2400" b="1" dirty="0"/>
                    <a:t>Table 1 </a:t>
                  </a:r>
                  <a:r>
                    <a:rPr lang="en-US" sz="2400" dirty="0"/>
                    <a:t>Subset of SEATIRD model comparison for R0=1.1 (top) and 4.1 (bottom). The sample mean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oMath>
                  </a14:m>
                  <a:r>
                    <a:rPr lang="en-US" sz="2400" dirty="0"/>
                    <a:t>)and standard deviation</a:t>
                  </a:r>
                  <a14:m>
                    <m:oMath xmlns:m="http://schemas.openxmlformats.org/officeDocument/2006/math">
                      <m:d>
                        <m:dPr>
                          <m:ctrlPr>
                            <a:rPr lang="en-US" sz="2400" b="0" i="1" smtClean="0">
                              <a:latin typeface="Cambria Math" panose="02040503050406030204" pitchFamily="18" charset="0"/>
                            </a:rPr>
                          </m:ctrlPr>
                        </m:dPr>
                        <m:e>
                          <m:r>
                            <a:rPr lang="en-US" sz="2400" i="1">
                              <a:latin typeface="Cambria Math" panose="02040503050406030204" pitchFamily="18" charset="0"/>
                            </a:rPr>
                            <m:t>𝑠𝑑</m:t>
                          </m:r>
                        </m:e>
                      </m:d>
                    </m:oMath>
                  </a14:m>
                  <a:r>
                    <a:rPr lang="en-US" sz="2400" dirty="0"/>
                    <a:t> are from all 100 simulations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𝑠𝑖𝑚</m:t>
                          </m:r>
                        </m:e>
                        <m:sub>
                          <m:r>
                            <a:rPr lang="en-US" sz="2400" i="1">
                              <a:latin typeface="Cambria Math" panose="02040503050406030204" pitchFamily="18" charset="0"/>
                            </a:rPr>
                            <m:t>𝑒𝑠𝑡</m:t>
                          </m:r>
                        </m:sub>
                      </m:sSub>
                      <m:r>
                        <a:rPr lang="en-US" sz="2400" i="1">
                          <a:latin typeface="Cambria Math" panose="02040503050406030204" pitchFamily="18" charset="0"/>
                        </a:rPr>
                        <m:t> </m:t>
                      </m:r>
                    </m:oMath>
                  </a14:m>
                  <a:r>
                    <a:rPr lang="en-US" sz="2400" dirty="0"/>
                    <a:t>are rounded up to nearest integer to ensure minimum is always at least 1 simulation. All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𝑠𝑖𝑚</m:t>
                          </m:r>
                        </m:e>
                        <m:sub>
                          <m:r>
                            <a:rPr lang="en-US" sz="2400" i="1">
                              <a:latin typeface="Cambria Math" panose="02040503050406030204" pitchFamily="18" charset="0"/>
                            </a:rPr>
                            <m:t>𝑒𝑠𝑡</m:t>
                          </m:r>
                        </m:sub>
                      </m:sSub>
                      <m:r>
                        <a:rPr lang="en-US" sz="2400" i="1">
                          <a:latin typeface="Cambria Math" panose="02040503050406030204" pitchFamily="18" charset="0"/>
                        </a:rPr>
                        <m:t> </m:t>
                      </m:r>
                    </m:oMath>
                  </a14:m>
                  <a:r>
                    <a:rPr lang="en-US" sz="2400" dirty="0"/>
                    <a:t>suggest there is little noise in the stochastic and deterministic models, so 1-2 simulations captures 95% of the variation. Figure 4 displays the time series of the boxed rows.</a:t>
                  </a:r>
                </a:p>
              </p:txBody>
            </p:sp>
          </mc:Choice>
          <mc:Fallback xmlns="">
            <p:sp>
              <p:nvSpPr>
                <p:cNvPr id="589" name="TextBox 588">
                  <a:extLst>
                    <a:ext uri="{FF2B5EF4-FFF2-40B4-BE49-F238E27FC236}">
                      <a16:creationId xmlns:a16="http://schemas.microsoft.com/office/drawing/2014/main" id="{0E2B2458-7E1D-2E47-3DEF-B81F0551F302}"/>
                    </a:ext>
                  </a:extLst>
                </p:cNvPr>
                <p:cNvSpPr txBox="1">
                  <a:spLocks noRot="1" noChangeAspect="1" noMove="1" noResize="1" noEditPoints="1" noAdjustHandles="1" noChangeArrowheads="1" noChangeShapeType="1" noTextEdit="1"/>
                </p:cNvSpPr>
                <p:nvPr/>
              </p:nvSpPr>
              <p:spPr>
                <a:xfrm>
                  <a:off x="14678749" y="26778827"/>
                  <a:ext cx="9541920" cy="2677656"/>
                </a:xfrm>
                <a:prstGeom prst="rect">
                  <a:avLst/>
                </a:prstGeom>
                <a:blipFill>
                  <a:blip r:embed="rId19"/>
                  <a:stretch>
                    <a:fillRect l="-1064" t="-1887" r="-665" b="-4245"/>
                  </a:stretch>
                </a:blipFill>
              </p:spPr>
              <p:txBody>
                <a:bodyPr/>
                <a:lstStyle/>
                <a:p>
                  <a:r>
                    <a:rPr lang="en-US">
                      <a:noFill/>
                    </a:rPr>
                    <a:t> </a:t>
                  </a:r>
                </a:p>
              </p:txBody>
            </p:sp>
          </mc:Fallback>
        </mc:AlternateContent>
        <p:pic>
          <p:nvPicPr>
            <p:cNvPr id="596" name="Picture 595" descr="A table with numbers and a number of objects&#10;&#10;AI-generated content may be incorrect.">
              <a:extLst>
                <a:ext uri="{FF2B5EF4-FFF2-40B4-BE49-F238E27FC236}">
                  <a16:creationId xmlns:a16="http://schemas.microsoft.com/office/drawing/2014/main" id="{3194104B-5000-5B2A-C22F-7E6FFC9574F9}"/>
                </a:ext>
              </a:extLst>
            </p:cNvPr>
            <p:cNvPicPr>
              <a:picLocks noChangeAspect="1"/>
            </p:cNvPicPr>
            <p:nvPr/>
          </p:nvPicPr>
          <p:blipFill>
            <a:blip r:embed="rId20"/>
            <a:stretch>
              <a:fillRect/>
            </a:stretch>
          </p:blipFill>
          <p:spPr>
            <a:xfrm>
              <a:off x="14678749" y="16616736"/>
              <a:ext cx="9541920" cy="9605041"/>
            </a:xfrm>
            <a:prstGeom prst="rect">
              <a:avLst/>
            </a:prstGeom>
          </p:spPr>
        </p:pic>
        <p:sp>
          <p:nvSpPr>
            <p:cNvPr id="597" name="Rectangle 596">
              <a:extLst>
                <a:ext uri="{FF2B5EF4-FFF2-40B4-BE49-F238E27FC236}">
                  <a16:creationId xmlns:a16="http://schemas.microsoft.com/office/drawing/2014/main" id="{91B3ED52-ECF7-EDFC-29AF-F01618BED250}"/>
                </a:ext>
              </a:extLst>
            </p:cNvPr>
            <p:cNvSpPr/>
            <p:nvPr/>
          </p:nvSpPr>
          <p:spPr>
            <a:xfrm>
              <a:off x="14678749" y="25225767"/>
              <a:ext cx="9541920" cy="96109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27CA8C05-D3C9-5A7D-AFF7-AD7AD167C837}"/>
                </a:ext>
              </a:extLst>
            </p:cNvPr>
            <p:cNvSpPr/>
            <p:nvPr/>
          </p:nvSpPr>
          <p:spPr>
            <a:xfrm>
              <a:off x="14678749" y="20938709"/>
              <a:ext cx="9541920" cy="961093"/>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2" name="Group 611">
            <a:extLst>
              <a:ext uri="{FF2B5EF4-FFF2-40B4-BE49-F238E27FC236}">
                <a16:creationId xmlns:a16="http://schemas.microsoft.com/office/drawing/2014/main" id="{73659FEA-0914-914A-69A8-09DCD5BB1629}"/>
              </a:ext>
            </a:extLst>
          </p:cNvPr>
          <p:cNvGrpSpPr/>
          <p:nvPr/>
        </p:nvGrpSpPr>
        <p:grpSpPr>
          <a:xfrm>
            <a:off x="35164772" y="24298046"/>
            <a:ext cx="5755111" cy="3134835"/>
            <a:chOff x="33647300" y="26690855"/>
            <a:chExt cx="8525790" cy="4695875"/>
          </a:xfrm>
        </p:grpSpPr>
        <p:grpSp>
          <p:nvGrpSpPr>
            <p:cNvPr id="607" name="Group 606">
              <a:extLst>
                <a:ext uri="{FF2B5EF4-FFF2-40B4-BE49-F238E27FC236}">
                  <a16:creationId xmlns:a16="http://schemas.microsoft.com/office/drawing/2014/main" id="{616FBB39-4E3D-093B-7C4A-81E17192916F}"/>
                </a:ext>
              </a:extLst>
            </p:cNvPr>
            <p:cNvGrpSpPr/>
            <p:nvPr/>
          </p:nvGrpSpPr>
          <p:grpSpPr>
            <a:xfrm>
              <a:off x="33647300" y="26690855"/>
              <a:ext cx="7772400" cy="4400108"/>
              <a:chOff x="33647300" y="26664561"/>
              <a:chExt cx="7772400" cy="4400108"/>
            </a:xfrm>
          </p:grpSpPr>
          <p:pic>
            <p:nvPicPr>
              <p:cNvPr id="603" name="Picture 602" descr="A diagram of a diagram&#10;&#10;AI-generated content may be incorrect.">
                <a:extLst>
                  <a:ext uri="{FF2B5EF4-FFF2-40B4-BE49-F238E27FC236}">
                    <a16:creationId xmlns:a16="http://schemas.microsoft.com/office/drawing/2014/main" id="{D0941ED1-F0BE-6156-891D-69E6CD806EB8}"/>
                  </a:ext>
                </a:extLst>
              </p:cNvPr>
              <p:cNvPicPr>
                <a:picLocks noChangeAspect="1"/>
              </p:cNvPicPr>
              <p:nvPr/>
            </p:nvPicPr>
            <p:blipFill>
              <a:blip r:embed="rId21"/>
              <a:srcRect t="13985"/>
              <a:stretch>
                <a:fillRect/>
              </a:stretch>
            </p:blipFill>
            <p:spPr>
              <a:xfrm>
                <a:off x="33647300" y="26664561"/>
                <a:ext cx="7772400" cy="3738852"/>
              </a:xfrm>
              <a:prstGeom prst="rect">
                <a:avLst/>
              </a:prstGeom>
            </p:spPr>
          </p:pic>
          <p:sp>
            <p:nvSpPr>
              <p:cNvPr id="606" name="Rectangle 605">
                <a:extLst>
                  <a:ext uri="{FF2B5EF4-FFF2-40B4-BE49-F238E27FC236}">
                    <a16:creationId xmlns:a16="http://schemas.microsoft.com/office/drawing/2014/main" id="{3FFDA1FF-E659-BE03-C4EA-AA8CA4483DFF}"/>
                  </a:ext>
                </a:extLst>
              </p:cNvPr>
              <p:cNvSpPr/>
              <p:nvPr/>
            </p:nvSpPr>
            <p:spPr>
              <a:xfrm>
                <a:off x="40103882" y="30225957"/>
                <a:ext cx="551245" cy="8387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0" name="TextBox 609">
              <a:extLst>
                <a:ext uri="{FF2B5EF4-FFF2-40B4-BE49-F238E27FC236}">
                  <a16:creationId xmlns:a16="http://schemas.microsoft.com/office/drawing/2014/main" id="{732F1334-9014-0CCA-9DA3-B8CC4831EA90}"/>
                </a:ext>
              </a:extLst>
            </p:cNvPr>
            <p:cNvSpPr txBox="1"/>
            <p:nvPr/>
          </p:nvSpPr>
          <p:spPr>
            <a:xfrm>
              <a:off x="34400691" y="30418549"/>
              <a:ext cx="2930069" cy="968181"/>
            </a:xfrm>
            <a:prstGeom prst="rect">
              <a:avLst/>
            </a:prstGeom>
            <a:noFill/>
          </p:spPr>
          <p:txBody>
            <a:bodyPr wrap="square" rtlCol="0">
              <a:spAutoFit/>
            </a:bodyPr>
            <a:lstStyle/>
            <a:p>
              <a:r>
                <a:rPr lang="en-US" dirty="0"/>
                <a:t>Vaccination against infection</a:t>
              </a:r>
            </a:p>
          </p:txBody>
        </p:sp>
        <p:sp>
          <p:nvSpPr>
            <p:cNvPr id="611" name="TextBox 610">
              <a:extLst>
                <a:ext uri="{FF2B5EF4-FFF2-40B4-BE49-F238E27FC236}">
                  <a16:creationId xmlns:a16="http://schemas.microsoft.com/office/drawing/2014/main" id="{28CDA135-133E-4B6B-BC63-922A56800E66}"/>
                </a:ext>
              </a:extLst>
            </p:cNvPr>
            <p:cNvSpPr txBox="1"/>
            <p:nvPr/>
          </p:nvSpPr>
          <p:spPr>
            <a:xfrm>
              <a:off x="38475693" y="30403413"/>
              <a:ext cx="3697397" cy="968181"/>
            </a:xfrm>
            <a:prstGeom prst="rect">
              <a:avLst/>
            </a:prstGeom>
            <a:noFill/>
          </p:spPr>
          <p:txBody>
            <a:bodyPr wrap="square" rtlCol="0">
              <a:spAutoFit/>
            </a:bodyPr>
            <a:lstStyle/>
            <a:p>
              <a:r>
                <a:rPr lang="en-US" dirty="0"/>
                <a:t>Vaccination against hospitalization</a:t>
              </a:r>
            </a:p>
          </p:txBody>
        </p:sp>
      </p:grpSp>
      <p:pic>
        <p:nvPicPr>
          <p:cNvPr id="3" name="Picture 2" descr="A qr code on a white background&#10;&#10;AI-generated content may be incorrect.">
            <a:extLst>
              <a:ext uri="{FF2B5EF4-FFF2-40B4-BE49-F238E27FC236}">
                <a16:creationId xmlns:a16="http://schemas.microsoft.com/office/drawing/2014/main" id="{CA4F5FE7-17FA-D7C6-E857-5974E6750FAB}"/>
              </a:ext>
            </a:extLst>
          </p:cNvPr>
          <p:cNvPicPr>
            <a:picLocks noChangeAspect="1"/>
          </p:cNvPicPr>
          <p:nvPr/>
        </p:nvPicPr>
        <p:blipFill>
          <a:blip r:embed="rId22"/>
          <a:stretch>
            <a:fillRect/>
          </a:stretch>
        </p:blipFill>
        <p:spPr>
          <a:xfrm>
            <a:off x="40043247" y="29396924"/>
            <a:ext cx="2385365" cy="2385365"/>
          </a:xfrm>
          <a:prstGeom prst="rect">
            <a:avLst/>
          </a:prstGeom>
        </p:spPr>
      </p:pic>
      <p:sp>
        <p:nvSpPr>
          <p:cNvPr id="15" name="TextBox 14">
            <a:extLst>
              <a:ext uri="{FF2B5EF4-FFF2-40B4-BE49-F238E27FC236}">
                <a16:creationId xmlns:a16="http://schemas.microsoft.com/office/drawing/2014/main" id="{8B1BD0BC-73BD-B8E9-1F48-D8B293F20C20}"/>
              </a:ext>
            </a:extLst>
          </p:cNvPr>
          <p:cNvSpPr txBox="1"/>
          <p:nvPr/>
        </p:nvSpPr>
        <p:spPr>
          <a:xfrm>
            <a:off x="39896843" y="31551457"/>
            <a:ext cx="2678174" cy="461665"/>
          </a:xfrm>
          <a:prstGeom prst="rect">
            <a:avLst/>
          </a:prstGeom>
          <a:noFill/>
        </p:spPr>
        <p:txBody>
          <a:bodyPr wrap="square" rtlCol="0">
            <a:spAutoFit/>
          </a:bodyPr>
          <a:lstStyle/>
          <a:p>
            <a:r>
              <a:rPr lang="en-US" sz="2400" dirty="0"/>
              <a:t>GitHub Repository</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4188</TotalTime>
  <Words>1319</Words>
  <Application>Microsoft Macintosh PowerPoint</Application>
  <PresentationFormat>Custom</PresentationFormat>
  <Paragraphs>80</Paragraphs>
  <Slides>1</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Cambria Math</vt:lpstr>
      <vt:lpstr>Helvetica Neue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Javan, Emily</dc:creator>
  <cp:lastModifiedBy>Javan, Emily</cp:lastModifiedBy>
  <cp:revision>17</cp:revision>
  <dcterms:created xsi:type="dcterms:W3CDTF">2025-09-19T21:44:39Z</dcterms:created>
  <dcterms:modified xsi:type="dcterms:W3CDTF">2025-09-22T19:54:10Z</dcterms:modified>
</cp:coreProperties>
</file>